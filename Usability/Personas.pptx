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11"/>
  </p:notesMasterIdLst>
  <p:sldIdLst>
    <p:sldId id="256" r:id="rId3"/>
    <p:sldId id="257" r:id="rId4"/>
    <p:sldId id="258" r:id="rId5"/>
    <p:sldId id="259" r:id="rId6"/>
    <p:sldId id="263" r:id="rId7"/>
    <p:sldId id="264" r:id="rId8"/>
    <p:sldId id="261" r:id="rId9"/>
    <p:sldId id="262" r:id="rId10"/>
  </p:sldIdLst>
  <p:sldSz cx="9144000" cy="5715000" type="screen16x10"/>
  <p:notesSz cx="6858000" cy="9144000"/>
  <p:embeddedFontLst>
    <p:embeddedFont>
      <p:font typeface="Roboto Mono Light" panose="00000009000000000000" pitchFamily="49" charset="0"/>
      <p:regular r:id="rId12"/>
      <p:bold r:id="rId13"/>
      <p:italic r:id="rId14"/>
      <p:boldItalic r:id="rId15"/>
    </p:embeddedFont>
    <p:embeddedFont>
      <p:font typeface="Titillium Web" panose="00000500000000000000" pitchFamily="2" charset="0"/>
      <p:regular r:id="rId16"/>
      <p:bold r:id="rId17"/>
      <p:italic r:id="rId18"/>
      <p:boldItalic r:id="rId19"/>
    </p:embeddedFont>
    <p:embeddedFont>
      <p:font typeface="Titillium Web SemiBold" panose="00000700000000000000" pitchFamily="2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881">
          <p15:clr>
            <a:srgbClr val="9AA0A6"/>
          </p15:clr>
        </p15:guide>
        <p15:guide id="2" orient="horz" pos="340">
          <p15:clr>
            <a:srgbClr val="9AA0A6"/>
          </p15:clr>
        </p15:guide>
        <p15:guide id="3" orient="horz" pos="510">
          <p15:clr>
            <a:srgbClr val="9AA0A6"/>
          </p15:clr>
        </p15:guide>
        <p15:guide id="4" pos="1644">
          <p15:clr>
            <a:srgbClr val="9AA0A6"/>
          </p15:clr>
        </p15:guide>
        <p15:guide id="5" pos="1425">
          <p15:clr>
            <a:srgbClr val="9AA0A6"/>
          </p15:clr>
        </p15:guide>
        <p15:guide id="6" pos="2880">
          <p15:clr>
            <a:srgbClr val="9AA0A6"/>
          </p15:clr>
        </p15:guide>
        <p15:guide id="7" pos="4318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6" d="100"/>
          <a:sy n="126" d="100"/>
        </p:scale>
        <p:origin x="1194" y="120"/>
      </p:cViewPr>
      <p:guideLst>
        <p:guide orient="horz" pos="881"/>
        <p:guide orient="horz" pos="340"/>
        <p:guide orient="horz" pos="510"/>
        <p:guide pos="1644"/>
        <p:guide pos="1425"/>
        <p:guide pos="2880"/>
        <p:guide pos="431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font" Target="fonts/font10.fntdata"/><Relationship Id="rId7" Type="http://schemas.openxmlformats.org/officeDocument/2006/relationships/slide" Target="slides/slide5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10" Type="http://schemas.openxmlformats.org/officeDocument/2006/relationships/slide" Target="slides/slide8.xml"/><Relationship Id="rId19" Type="http://schemas.openxmlformats.org/officeDocument/2006/relationships/font" Target="fonts/font8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3.fntdata"/><Relationship Id="rId22" Type="http://schemas.openxmlformats.org/officeDocument/2006/relationships/font" Target="fonts/font11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686104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b8eece2fcb_3_1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6104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b8eece2fcb_3_1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b8b34a0e2e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6104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b8b34a0e2e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b8b34a0e2e_0_5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b8b34a0e2e_0_5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ab5ec15483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ab5ec15483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ab5ec15483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ab5ec15483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011332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ab5ec15483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ab5ec15483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4975832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e0a77ace14_0_1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6104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e0a77ace14_0_1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e0f4c7882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6100" y="685800"/>
            <a:ext cx="54864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e0f4c7882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827306"/>
            <a:ext cx="8520600" cy="2280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149028"/>
            <a:ext cx="8520600" cy="88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389833"/>
            <a:ext cx="8520600" cy="93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280528"/>
            <a:ext cx="3999900" cy="37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280528"/>
            <a:ext cx="3999900" cy="37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617333"/>
            <a:ext cx="2808000" cy="83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544000"/>
            <a:ext cx="2808000" cy="353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500167"/>
            <a:ext cx="6367800" cy="454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39"/>
            <a:ext cx="4572000" cy="5715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370194"/>
            <a:ext cx="4045200" cy="1647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3114528"/>
            <a:ext cx="4045200" cy="137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804528"/>
            <a:ext cx="3837000" cy="4105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700639"/>
            <a:ext cx="5998800" cy="672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29028"/>
            <a:ext cx="8520600" cy="218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502472"/>
            <a:ext cx="8520600" cy="144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lvl="2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lvl="3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lvl="4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lvl="5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lvl="6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lvl="7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lvl="8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body" idx="1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ctrTitle"/>
          </p:nvPr>
        </p:nvSpPr>
        <p:spPr>
          <a:xfrm>
            <a:off x="311708" y="827306"/>
            <a:ext cx="8520600" cy="228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>
                <a:solidFill>
                  <a:schemeClr val="dk1"/>
                </a:solidFill>
              </a:defRPr>
            </a:lvl2pPr>
            <a:lvl3pPr lvl="2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>
                <a:solidFill>
                  <a:schemeClr val="dk1"/>
                </a:solidFill>
              </a:defRPr>
            </a:lvl3pPr>
            <a:lvl4pPr lvl="3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>
                <a:solidFill>
                  <a:schemeClr val="dk1"/>
                </a:solidFill>
              </a:defRPr>
            </a:lvl4pPr>
            <a:lvl5pPr lvl="4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>
                <a:solidFill>
                  <a:schemeClr val="dk1"/>
                </a:solidFill>
              </a:defRPr>
            </a:lvl5pPr>
            <a:lvl6pPr lvl="5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>
                <a:solidFill>
                  <a:schemeClr val="dk1"/>
                </a:solidFill>
              </a:defRPr>
            </a:lvl6pPr>
            <a:lvl7pPr lvl="6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>
                <a:solidFill>
                  <a:schemeClr val="dk1"/>
                </a:solidFill>
              </a:defRPr>
            </a:lvl7pPr>
            <a:lvl8pPr lvl="7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>
                <a:solidFill>
                  <a:schemeClr val="dk1"/>
                </a:solidFill>
              </a:defRPr>
            </a:lvl8pPr>
            <a:lvl9pPr lvl="8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  <a:defRPr sz="5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ubTitle" idx="1"/>
          </p:nvPr>
        </p:nvSpPr>
        <p:spPr>
          <a:xfrm>
            <a:off x="311700" y="3149028"/>
            <a:ext cx="8520600" cy="88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>
            <a:spLocks noGrp="1"/>
          </p:cNvSpPr>
          <p:nvPr>
            <p:ph type="title"/>
          </p:nvPr>
        </p:nvSpPr>
        <p:spPr>
          <a:xfrm>
            <a:off x="311700" y="2389833"/>
            <a:ext cx="8520600" cy="9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>
                <a:solidFill>
                  <a:schemeClr val="dk1"/>
                </a:solidFill>
              </a:defRPr>
            </a:lvl2pPr>
            <a:lvl3pPr lvl="2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>
                <a:solidFill>
                  <a:schemeClr val="dk1"/>
                </a:solidFill>
              </a:defRPr>
            </a:lvl3pPr>
            <a:lvl4pPr lvl="3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>
                <a:solidFill>
                  <a:schemeClr val="dk1"/>
                </a:solidFill>
              </a:defRPr>
            </a:lvl4pPr>
            <a:lvl5pPr lvl="4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>
                <a:solidFill>
                  <a:schemeClr val="dk1"/>
                </a:solidFill>
              </a:defRPr>
            </a:lvl5pPr>
            <a:lvl6pPr lvl="5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>
                <a:solidFill>
                  <a:schemeClr val="dk1"/>
                </a:solidFill>
              </a:defRPr>
            </a:lvl6pPr>
            <a:lvl7pPr lvl="6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>
                <a:solidFill>
                  <a:schemeClr val="dk1"/>
                </a:solidFill>
              </a:defRPr>
            </a:lvl7pPr>
            <a:lvl8pPr lvl="7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>
                <a:solidFill>
                  <a:schemeClr val="dk1"/>
                </a:solidFill>
              </a:defRPr>
            </a:lvl8pPr>
            <a:lvl9pPr lvl="8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lvl="2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lvl="3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lvl="4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lvl="5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lvl="6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lvl="7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lvl="8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311700" y="1280528"/>
            <a:ext cx="3999900" cy="37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4832400" y="1280528"/>
            <a:ext cx="3999900" cy="37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lvl="2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lvl="3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lvl="4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lvl="5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lvl="6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lvl="7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lvl="8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311700" y="617333"/>
            <a:ext cx="2808000" cy="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</a:defRPr>
            </a:lvl2pPr>
            <a:lvl3pPr lvl="2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</a:defRPr>
            </a:lvl3pPr>
            <a:lvl4pPr lvl="3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</a:defRPr>
            </a:lvl4pPr>
            <a:lvl5pPr lvl="4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</a:defRPr>
            </a:lvl5pPr>
            <a:lvl6pPr lvl="5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</a:defRPr>
            </a:lvl6pPr>
            <a:lvl7pPr lvl="6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</a:defRPr>
            </a:lvl7pPr>
            <a:lvl8pPr lvl="7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</a:defRPr>
            </a:lvl8pPr>
            <a:lvl9pPr lvl="8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311700" y="1544000"/>
            <a:ext cx="2808000" cy="353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●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048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Arial"/>
              <a:buChar char="○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048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200"/>
              <a:buFont typeface="Arial"/>
              <a:buChar char="■"/>
              <a:defRPr sz="12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490250" y="500167"/>
            <a:ext cx="6367800" cy="45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>
                <a:solidFill>
                  <a:schemeClr val="dk1"/>
                </a:solidFill>
              </a:defRPr>
            </a:lvl2pPr>
            <a:lvl3pPr lvl="2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>
                <a:solidFill>
                  <a:schemeClr val="dk1"/>
                </a:solidFill>
              </a:defRPr>
            </a:lvl3pPr>
            <a:lvl4pPr lvl="3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>
                <a:solidFill>
                  <a:schemeClr val="dk1"/>
                </a:solidFill>
              </a:defRPr>
            </a:lvl4pPr>
            <a:lvl5pPr lvl="4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>
                <a:solidFill>
                  <a:schemeClr val="dk1"/>
                </a:solidFill>
              </a:defRPr>
            </a:lvl5pPr>
            <a:lvl6pPr lvl="5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>
                <a:solidFill>
                  <a:schemeClr val="dk1"/>
                </a:solidFill>
              </a:defRPr>
            </a:lvl6pPr>
            <a:lvl7pPr lvl="6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>
                <a:solidFill>
                  <a:schemeClr val="dk1"/>
                </a:solidFill>
              </a:defRPr>
            </a:lvl7pPr>
            <a:lvl8pPr lvl="7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>
                <a:solidFill>
                  <a:schemeClr val="dk1"/>
                </a:solidFill>
              </a:defRPr>
            </a:lvl8pPr>
            <a:lvl9pPr lvl="8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  <a:defRPr sz="4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39"/>
            <a:ext cx="4572000" cy="5715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265500" y="1370194"/>
            <a:ext cx="4045200" cy="164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>
                <a:solidFill>
                  <a:schemeClr val="dk1"/>
                </a:solidFill>
              </a:defRPr>
            </a:lvl2pPr>
            <a:lvl3pPr lvl="2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>
                <a:solidFill>
                  <a:schemeClr val="dk1"/>
                </a:solidFill>
              </a:defRPr>
            </a:lvl3pPr>
            <a:lvl4pPr lvl="3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>
                <a:solidFill>
                  <a:schemeClr val="dk1"/>
                </a:solidFill>
              </a:defRPr>
            </a:lvl4pPr>
            <a:lvl5pPr lvl="4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>
                <a:solidFill>
                  <a:schemeClr val="dk1"/>
                </a:solidFill>
              </a:defRPr>
            </a:lvl5pPr>
            <a:lvl6pPr lvl="5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>
                <a:solidFill>
                  <a:schemeClr val="dk1"/>
                </a:solidFill>
              </a:defRPr>
            </a:lvl6pPr>
            <a:lvl7pPr lvl="6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>
                <a:solidFill>
                  <a:schemeClr val="dk1"/>
                </a:solidFill>
              </a:defRPr>
            </a:lvl7pPr>
            <a:lvl8pPr lvl="7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>
                <a:solidFill>
                  <a:schemeClr val="dk1"/>
                </a:solidFill>
              </a:defRPr>
            </a:lvl8pPr>
            <a:lvl9pPr lvl="8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None/>
              <a:defRPr sz="42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1"/>
          </p:nvPr>
        </p:nvSpPr>
        <p:spPr>
          <a:xfrm>
            <a:off x="265500" y="3114528"/>
            <a:ext cx="4045200" cy="137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Arial"/>
              <a:buNone/>
              <a:defRPr sz="21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2"/>
          </p:nvPr>
        </p:nvSpPr>
        <p:spPr>
          <a:xfrm>
            <a:off x="4939500" y="804528"/>
            <a:ext cx="3837000" cy="410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>
            <a:off x="311700" y="4700639"/>
            <a:ext cx="5998800" cy="67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/>
          </p:nvPr>
        </p:nvSpPr>
        <p:spPr>
          <a:xfrm>
            <a:off x="311700" y="1229028"/>
            <a:ext cx="8520600" cy="2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sz="1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sz="12000">
                <a:solidFill>
                  <a:schemeClr val="dk1"/>
                </a:solidFill>
              </a:defRPr>
            </a:lvl2pPr>
            <a:lvl3pPr lvl="2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sz="12000">
                <a:solidFill>
                  <a:schemeClr val="dk1"/>
                </a:solidFill>
              </a:defRPr>
            </a:lvl3pPr>
            <a:lvl4pPr lvl="3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sz="12000">
                <a:solidFill>
                  <a:schemeClr val="dk1"/>
                </a:solidFill>
              </a:defRPr>
            </a:lvl4pPr>
            <a:lvl5pPr lvl="4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sz="12000">
                <a:solidFill>
                  <a:schemeClr val="dk1"/>
                </a:solidFill>
              </a:defRPr>
            </a:lvl5pPr>
            <a:lvl6pPr lvl="5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sz="12000">
                <a:solidFill>
                  <a:schemeClr val="dk1"/>
                </a:solidFill>
              </a:defRPr>
            </a:lvl6pPr>
            <a:lvl7pPr lvl="6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sz="12000">
                <a:solidFill>
                  <a:schemeClr val="dk1"/>
                </a:solidFill>
              </a:defRPr>
            </a:lvl7pPr>
            <a:lvl8pPr lvl="7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sz="12000">
                <a:solidFill>
                  <a:schemeClr val="dk1"/>
                </a:solidFill>
              </a:defRPr>
            </a:lvl8pPr>
            <a:lvl9pPr lvl="8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0"/>
              <a:buFont typeface="Arial"/>
              <a:buNone/>
              <a:defRPr sz="1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11700" y="3502472"/>
            <a:ext cx="8520600" cy="144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ctr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ctr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94472"/>
            <a:ext cx="8520600" cy="63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2pPr>
            <a:lvl3pPr lvl="2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3pPr>
            <a:lvl4pPr lvl="3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4pPr>
            <a:lvl5pPr lvl="4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5pPr>
            <a:lvl6pPr lvl="5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6pPr>
            <a:lvl7pPr lvl="6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7pPr>
            <a:lvl8pPr lvl="7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8pPr>
            <a:lvl9pPr lvl="8" indent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280528"/>
            <a:ext cx="8520600" cy="37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creativecommons.org/licenses/by-sa/4.0/deed.it" TargetMode="Externa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7.png"/><Relationship Id="rId18" Type="http://schemas.openxmlformats.org/officeDocument/2006/relationships/image" Target="../media/image21.png"/><Relationship Id="rId3" Type="http://schemas.openxmlformats.org/officeDocument/2006/relationships/image" Target="../media/image9.png"/><Relationship Id="rId21" Type="http://schemas.openxmlformats.org/officeDocument/2006/relationships/image" Target="../media/image4.png"/><Relationship Id="rId7" Type="http://schemas.openxmlformats.org/officeDocument/2006/relationships/image" Target="../media/image12.png"/><Relationship Id="rId12" Type="http://schemas.openxmlformats.org/officeDocument/2006/relationships/image" Target="../media/image16.png"/><Relationship Id="rId17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9.png"/><Relationship Id="rId20" Type="http://schemas.openxmlformats.org/officeDocument/2006/relationships/image" Target="../media/image23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.png"/><Relationship Id="rId11" Type="http://schemas.openxmlformats.org/officeDocument/2006/relationships/image" Target="../media/image15.png"/><Relationship Id="rId5" Type="http://schemas.openxmlformats.org/officeDocument/2006/relationships/image" Target="../media/image11.png"/><Relationship Id="rId15" Type="http://schemas.openxmlformats.org/officeDocument/2006/relationships/image" Target="../media/image18.png"/><Relationship Id="rId10" Type="http://schemas.openxmlformats.org/officeDocument/2006/relationships/image" Target="../media/image5.png"/><Relationship Id="rId19" Type="http://schemas.openxmlformats.org/officeDocument/2006/relationships/image" Target="../media/image22.png"/><Relationship Id="rId4" Type="http://schemas.openxmlformats.org/officeDocument/2006/relationships/image" Target="../media/image10.png"/><Relationship Id="rId9" Type="http://schemas.openxmlformats.org/officeDocument/2006/relationships/image" Target="../media/image14.png"/><Relationship Id="rId1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designers.italia.it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2.png"/><Relationship Id="rId4" Type="http://schemas.openxmlformats.org/officeDocument/2006/relationships/hyperlink" Target="https://creativecommons.org/licenses/by-sa/4.0/deed.it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5"/>
          <p:cNvSpPr txBox="1"/>
          <p:nvPr/>
        </p:nvSpPr>
        <p:spPr>
          <a:xfrm>
            <a:off x="1947325" y="3130025"/>
            <a:ext cx="5249100" cy="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2200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Come raccontare i profili degli utenti-tipo del servizio pubblico digitale</a:t>
            </a:r>
            <a:endParaRPr sz="2200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cxnSp>
        <p:nvCxnSpPr>
          <p:cNvPr id="100" name="Google Shape;100;p25"/>
          <p:cNvCxnSpPr/>
          <p:nvPr/>
        </p:nvCxnSpPr>
        <p:spPr>
          <a:xfrm>
            <a:off x="3914550" y="2788575"/>
            <a:ext cx="1314900" cy="0"/>
          </a:xfrm>
          <a:prstGeom prst="straightConnector1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01" name="Google Shape;101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5307600"/>
            <a:ext cx="1931375" cy="40727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5"/>
          <p:cNvSpPr txBox="1"/>
          <p:nvPr/>
        </p:nvSpPr>
        <p:spPr>
          <a:xfrm>
            <a:off x="908550" y="966125"/>
            <a:ext cx="7326900" cy="13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3600" b="1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Modello personas</a:t>
            </a:r>
            <a:endParaRPr sz="3600" b="1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03" name="Google Shape;103;p25"/>
          <p:cNvSpPr/>
          <p:nvPr/>
        </p:nvSpPr>
        <p:spPr>
          <a:xfrm>
            <a:off x="410013" y="384575"/>
            <a:ext cx="953100" cy="953100"/>
          </a:xfrm>
          <a:prstGeom prst="ellipse">
            <a:avLst/>
          </a:prstGeom>
          <a:solidFill>
            <a:srgbClr val="FFFFFF"/>
          </a:solidFill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4" name="Google Shape;104;p2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81713" y="556273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5"/>
          <p:cNvSpPr txBox="1"/>
          <p:nvPr/>
        </p:nvSpPr>
        <p:spPr>
          <a:xfrm>
            <a:off x="7829100" y="5307538"/>
            <a:ext cx="1314900" cy="4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700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Licenza </a:t>
            </a:r>
            <a:r>
              <a:rPr lang="it" sz="700" u="sng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 4.0</a:t>
            </a:r>
            <a:endParaRPr sz="800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06" name="Google Shape;106;p25"/>
          <p:cNvSpPr txBox="1"/>
          <p:nvPr/>
        </p:nvSpPr>
        <p:spPr>
          <a:xfrm>
            <a:off x="2066875" y="5307538"/>
            <a:ext cx="5762400" cy="4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it" sz="700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https://designers.italia.it/kit/esperienza-utente/</a:t>
            </a:r>
            <a:endParaRPr sz="800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6"/>
          <p:cNvSpPr txBox="1"/>
          <p:nvPr/>
        </p:nvSpPr>
        <p:spPr>
          <a:xfrm>
            <a:off x="386575" y="2618025"/>
            <a:ext cx="2102700" cy="125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20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Identifica gruppi di utenti con </a:t>
            </a:r>
            <a:r>
              <a:rPr lang="it" sz="1200" b="1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caratteristiche simili, </a:t>
            </a:r>
            <a:r>
              <a:rPr lang="it" sz="120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definisci</a:t>
            </a:r>
            <a:r>
              <a:rPr lang="it" sz="1200" b="1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 un personaggio </a:t>
            </a:r>
            <a:r>
              <a:rPr lang="it" sz="120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utile</a:t>
            </a:r>
            <a:r>
              <a:rPr lang="it" sz="1200" b="1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 </a:t>
            </a:r>
            <a:r>
              <a:rPr lang="it" sz="120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a raccontare la prospettiva di ciascun gruppo.</a:t>
            </a:r>
            <a:endParaRPr sz="1200" b="1">
              <a:solidFill>
                <a:srgbClr val="434343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12" name="Google Shape;112;p26"/>
          <p:cNvSpPr txBox="1"/>
          <p:nvPr/>
        </p:nvSpPr>
        <p:spPr>
          <a:xfrm>
            <a:off x="360825" y="354450"/>
            <a:ext cx="3881100" cy="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rgbClr val="0066CC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Istruzioni</a:t>
            </a:r>
            <a:endParaRPr sz="1200">
              <a:solidFill>
                <a:srgbClr val="0066CC"/>
              </a:solidFill>
              <a:latin typeface="Titillium Web SemiBold"/>
              <a:ea typeface="Titillium Web SemiBold"/>
              <a:cs typeface="Titillium Web SemiBold"/>
              <a:sym typeface="Titillium Web SemiBold"/>
            </a:endParaRPr>
          </a:p>
        </p:txBody>
      </p:sp>
      <p:sp>
        <p:nvSpPr>
          <p:cNvPr id="113" name="Google Shape;113;p26"/>
          <p:cNvSpPr txBox="1"/>
          <p:nvPr/>
        </p:nvSpPr>
        <p:spPr>
          <a:xfrm>
            <a:off x="360825" y="1240000"/>
            <a:ext cx="4903200" cy="6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 b="1">
                <a:solidFill>
                  <a:srgbClr val="0066CC"/>
                </a:solidFill>
                <a:latin typeface="Titillium Web"/>
                <a:ea typeface="Titillium Web"/>
                <a:cs typeface="Titillium Web"/>
                <a:sym typeface="Titillium Web"/>
              </a:rPr>
              <a:t>Descrivi le diverse tipologie </a:t>
            </a:r>
            <a:br>
              <a:rPr lang="it" sz="2400" b="1">
                <a:solidFill>
                  <a:srgbClr val="0066CC"/>
                </a:solidFill>
                <a:latin typeface="Titillium Web"/>
                <a:ea typeface="Titillium Web"/>
                <a:cs typeface="Titillium Web"/>
                <a:sym typeface="Titillium Web"/>
              </a:rPr>
            </a:br>
            <a:r>
              <a:rPr lang="it" sz="2400" b="1">
                <a:solidFill>
                  <a:srgbClr val="0066CC"/>
                </a:solidFill>
                <a:latin typeface="Titillium Web"/>
                <a:ea typeface="Titillium Web"/>
                <a:cs typeface="Titillium Web"/>
                <a:sym typeface="Titillium Web"/>
              </a:rPr>
              <a:t>di utenti del servizio pubblico:</a:t>
            </a:r>
            <a:endParaRPr sz="2400" b="1">
              <a:solidFill>
                <a:srgbClr val="0066CC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14" name="Google Shape;114;p26"/>
          <p:cNvSpPr txBox="1"/>
          <p:nvPr/>
        </p:nvSpPr>
        <p:spPr>
          <a:xfrm>
            <a:off x="2502125" y="2618025"/>
            <a:ext cx="2072700" cy="20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Assegna un </a:t>
            </a:r>
            <a:r>
              <a:rPr lang="it" sz="1200" b="1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ritratto, età e un nome </a:t>
            </a:r>
            <a:r>
              <a:rPr lang="it" sz="120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ad ogni personaggio; indica il suo </a:t>
            </a:r>
            <a:r>
              <a:rPr lang="it" sz="1200" b="1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ruolo </a:t>
            </a:r>
            <a:r>
              <a:rPr lang="it" sz="120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e/o un </a:t>
            </a:r>
            <a:r>
              <a:rPr lang="it" sz="1200" b="1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aggettivo </a:t>
            </a:r>
            <a:r>
              <a:rPr lang="it" sz="120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che faccia immediatamente capire la sua attitudine. </a:t>
            </a:r>
            <a:endParaRPr sz="1200">
              <a:solidFill>
                <a:srgbClr val="434343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it" sz="120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Aggiungi infine una </a:t>
            </a:r>
            <a:r>
              <a:rPr lang="it" sz="1200" b="1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citazione</a:t>
            </a:r>
            <a:r>
              <a:rPr lang="it" sz="120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 riferita alla </a:t>
            </a:r>
            <a:r>
              <a:rPr lang="it" sz="1200" b="1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tipologia e/o ambito di servizio</a:t>
            </a:r>
            <a:r>
              <a:rPr lang="it" sz="120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.</a:t>
            </a:r>
            <a:endParaRPr sz="1200" b="1">
              <a:solidFill>
                <a:srgbClr val="434343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15" name="Google Shape;115;p26"/>
          <p:cNvSpPr txBox="1"/>
          <p:nvPr/>
        </p:nvSpPr>
        <p:spPr>
          <a:xfrm>
            <a:off x="4617675" y="2618025"/>
            <a:ext cx="2102700" cy="189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it" sz="120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Rifletti sul suo profilo: delinea la sua situazione e stile di vita, descrivi le sue </a:t>
            </a:r>
            <a:r>
              <a:rPr lang="it" sz="1200" b="1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attività</a:t>
            </a:r>
            <a:r>
              <a:rPr lang="it" sz="120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 </a:t>
            </a:r>
            <a:r>
              <a:rPr lang="it" sz="1200" b="1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principali </a:t>
            </a:r>
            <a:r>
              <a:rPr lang="it" sz="120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nel corso di una giornata, la </a:t>
            </a:r>
            <a:r>
              <a:rPr lang="it" sz="1200" b="1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dimestichezza con il digitale</a:t>
            </a:r>
            <a:r>
              <a:rPr lang="it" sz="120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 e </a:t>
            </a:r>
            <a:r>
              <a:rPr lang="it" sz="1200" b="1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conoscenza</a:t>
            </a:r>
            <a:r>
              <a:rPr lang="it" sz="120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 </a:t>
            </a:r>
            <a:r>
              <a:rPr lang="it" sz="1200" b="1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del servizio </a:t>
            </a:r>
            <a:r>
              <a:rPr lang="it" sz="120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in questione o di altri simili.</a:t>
            </a:r>
            <a:endParaRPr sz="1200" b="1">
              <a:solidFill>
                <a:srgbClr val="434343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16" name="Google Shape;116;p26"/>
          <p:cNvSpPr txBox="1"/>
          <p:nvPr/>
        </p:nvSpPr>
        <p:spPr>
          <a:xfrm>
            <a:off x="6733225" y="2618025"/>
            <a:ext cx="2072700" cy="20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Concentrati sull’</a:t>
            </a:r>
            <a:r>
              <a:rPr lang="it" sz="1200" b="1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utilizzo del servizio</a:t>
            </a:r>
            <a:r>
              <a:rPr lang="it" sz="120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: determina cosa lo/la spingerebbe ad utilizzarlo, quali vantaggi vuole ottenere. </a:t>
            </a:r>
            <a:endParaRPr sz="1200">
              <a:solidFill>
                <a:srgbClr val="434343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it" sz="120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Cerca di immaginare le sue </a:t>
            </a:r>
            <a:r>
              <a:rPr lang="it" sz="1200" b="1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esigenze </a:t>
            </a:r>
            <a:r>
              <a:rPr lang="it" sz="120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e potenziali </a:t>
            </a:r>
            <a:r>
              <a:rPr lang="it" sz="1200" b="1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difficoltà</a:t>
            </a:r>
            <a:r>
              <a:rPr lang="it" sz="120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 nel raggiungimento degli obiettivi.</a:t>
            </a:r>
            <a:endParaRPr sz="1200">
              <a:solidFill>
                <a:srgbClr val="434343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17" name="Google Shape;117;p26"/>
          <p:cNvSpPr txBox="1"/>
          <p:nvPr/>
        </p:nvSpPr>
        <p:spPr>
          <a:xfrm>
            <a:off x="2600625" y="5264052"/>
            <a:ext cx="5868000" cy="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rgbClr val="0056CB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Ripeti lo stesso processo per ogni profilo di utenti.</a:t>
            </a:r>
            <a:endParaRPr sz="1200">
              <a:solidFill>
                <a:srgbClr val="0056CB"/>
              </a:solidFill>
              <a:latin typeface="Titillium Web SemiBold"/>
              <a:ea typeface="Titillium Web SemiBold"/>
              <a:cs typeface="Titillium Web SemiBold"/>
              <a:sym typeface="Titillium Web SemiBold"/>
            </a:endParaRPr>
          </a:p>
        </p:txBody>
      </p:sp>
      <p:cxnSp>
        <p:nvCxnSpPr>
          <p:cNvPr id="118" name="Google Shape;118;p26"/>
          <p:cNvCxnSpPr/>
          <p:nvPr/>
        </p:nvCxnSpPr>
        <p:spPr>
          <a:xfrm>
            <a:off x="2600619" y="5276900"/>
            <a:ext cx="5969700" cy="0"/>
          </a:xfrm>
          <a:prstGeom prst="straightConnector1">
            <a:avLst/>
          </a:prstGeom>
          <a:noFill/>
          <a:ln w="9525" cap="flat" cmpd="sng">
            <a:solidFill>
              <a:srgbClr val="0056CB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9" name="Google Shape;119;p26"/>
          <p:cNvSpPr/>
          <p:nvPr/>
        </p:nvSpPr>
        <p:spPr>
          <a:xfrm>
            <a:off x="6733225" y="407100"/>
            <a:ext cx="2072700" cy="1084500"/>
          </a:xfrm>
          <a:prstGeom prst="rect">
            <a:avLst/>
          </a:prstGeom>
          <a:solidFill>
            <a:srgbClr val="0066CC"/>
          </a:solidFill>
          <a:ln>
            <a:noFill/>
          </a:ln>
        </p:spPr>
        <p:txBody>
          <a:bodyPr spcFirstLastPara="1" wrap="square" lIns="162000" tIns="90000" rIns="162000" bIns="91425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 b="1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SUGGERIMENTO: </a:t>
            </a:r>
            <a:r>
              <a:rPr lang="it" sz="1200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prima fatti un’idea di quanti e quali sono gli utenti-tipo (</a:t>
            </a:r>
            <a:r>
              <a:rPr lang="it" sz="1200" i="1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slide 3</a:t>
            </a:r>
            <a:r>
              <a:rPr lang="it" sz="1200">
                <a:solidFill>
                  <a:srgbClr val="FFFFFF"/>
                </a:solidFill>
                <a:latin typeface="Titillium Web"/>
                <a:ea typeface="Titillium Web"/>
                <a:cs typeface="Titillium Web"/>
                <a:sym typeface="Titillium Web"/>
              </a:rPr>
              <a:t>).</a:t>
            </a:r>
            <a:endParaRPr sz="1900" b="1">
              <a:solidFill>
                <a:srgbClr val="FFFFFF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20" name="Google Shape;120;p26"/>
          <p:cNvSpPr txBox="1"/>
          <p:nvPr/>
        </p:nvSpPr>
        <p:spPr>
          <a:xfrm>
            <a:off x="381250" y="2337818"/>
            <a:ext cx="5091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rgbClr val="0066CC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01</a:t>
            </a:r>
            <a:endParaRPr sz="1800" b="1">
              <a:solidFill>
                <a:srgbClr val="00C4C9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21" name="Google Shape;121;p26"/>
          <p:cNvSpPr txBox="1"/>
          <p:nvPr/>
        </p:nvSpPr>
        <p:spPr>
          <a:xfrm>
            <a:off x="2489275" y="2337818"/>
            <a:ext cx="5091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rgbClr val="0066CC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02</a:t>
            </a:r>
            <a:endParaRPr sz="1800" b="1">
              <a:solidFill>
                <a:srgbClr val="00C4C9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22" name="Google Shape;122;p26"/>
          <p:cNvSpPr txBox="1"/>
          <p:nvPr/>
        </p:nvSpPr>
        <p:spPr>
          <a:xfrm>
            <a:off x="4597300" y="2337818"/>
            <a:ext cx="5091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rgbClr val="0066CC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03</a:t>
            </a:r>
            <a:endParaRPr sz="1800" b="1">
              <a:solidFill>
                <a:srgbClr val="00C4C9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23" name="Google Shape;123;p26"/>
          <p:cNvSpPr txBox="1"/>
          <p:nvPr/>
        </p:nvSpPr>
        <p:spPr>
          <a:xfrm>
            <a:off x="6705325" y="2337818"/>
            <a:ext cx="5091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rgbClr val="0066CC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04</a:t>
            </a:r>
            <a:endParaRPr sz="1800" b="1">
              <a:solidFill>
                <a:srgbClr val="00C4C9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pic>
        <p:nvPicPr>
          <p:cNvPr id="124" name="Google Shape;124;p2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08563" y="5083900"/>
            <a:ext cx="1448532" cy="3054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7"/>
          <p:cNvSpPr/>
          <p:nvPr/>
        </p:nvSpPr>
        <p:spPr>
          <a:xfrm>
            <a:off x="0" y="2019300"/>
            <a:ext cx="9144000" cy="3704700"/>
          </a:xfrm>
          <a:prstGeom prst="rect">
            <a:avLst/>
          </a:prstGeom>
          <a:solidFill>
            <a:srgbClr val="F4F4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27"/>
          <p:cNvSpPr txBox="1"/>
          <p:nvPr/>
        </p:nvSpPr>
        <p:spPr>
          <a:xfrm>
            <a:off x="360825" y="354450"/>
            <a:ext cx="3881100" cy="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rgbClr val="0056CB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Riepilogo personas</a:t>
            </a:r>
            <a:endParaRPr sz="1200">
              <a:solidFill>
                <a:srgbClr val="0056CB"/>
              </a:solidFill>
              <a:latin typeface="Titillium Web SemiBold"/>
              <a:ea typeface="Titillium Web SemiBold"/>
              <a:cs typeface="Titillium Web SemiBold"/>
              <a:sym typeface="Titillium Web SemiBold"/>
            </a:endParaRPr>
          </a:p>
        </p:txBody>
      </p:sp>
      <p:sp>
        <p:nvSpPr>
          <p:cNvPr id="131" name="Google Shape;131;p27"/>
          <p:cNvSpPr txBox="1"/>
          <p:nvPr/>
        </p:nvSpPr>
        <p:spPr>
          <a:xfrm>
            <a:off x="360825" y="1240000"/>
            <a:ext cx="4903200" cy="67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 b="1">
                <a:solidFill>
                  <a:srgbClr val="0066CC"/>
                </a:solidFill>
                <a:latin typeface="Titillium Web"/>
                <a:ea typeface="Titillium Web"/>
                <a:cs typeface="Titillium Web"/>
                <a:sym typeface="Titillium Web"/>
              </a:rPr>
              <a:t>Gli utenti-tipo del servizio pubblico</a:t>
            </a:r>
            <a:endParaRPr sz="2400" b="1">
              <a:solidFill>
                <a:srgbClr val="0066CC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32" name="Google Shape;132;p27"/>
          <p:cNvSpPr txBox="1"/>
          <p:nvPr/>
        </p:nvSpPr>
        <p:spPr>
          <a:xfrm>
            <a:off x="386575" y="4062050"/>
            <a:ext cx="2102700" cy="852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dirty="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Massimo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1" dirty="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Commesso in negozio di alimentari</a:t>
            </a:r>
          </a:p>
        </p:txBody>
      </p:sp>
      <p:sp>
        <p:nvSpPr>
          <p:cNvPr id="133" name="Google Shape;133;p27"/>
          <p:cNvSpPr txBox="1"/>
          <p:nvPr/>
        </p:nvSpPr>
        <p:spPr>
          <a:xfrm>
            <a:off x="2502125" y="4062050"/>
            <a:ext cx="2072700" cy="125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dirty="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Alessandro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1" dirty="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Analista di calcio mercato</a:t>
            </a:r>
          </a:p>
        </p:txBody>
      </p:sp>
      <p:sp>
        <p:nvSpPr>
          <p:cNvPr id="134" name="Google Shape;134;p27"/>
          <p:cNvSpPr txBox="1"/>
          <p:nvPr/>
        </p:nvSpPr>
        <p:spPr>
          <a:xfrm>
            <a:off x="4617675" y="4062050"/>
            <a:ext cx="2102700" cy="125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800" b="1" dirty="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Aurora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1" dirty="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Studentessa universitaria di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400" b="1" dirty="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Matematica</a:t>
            </a:r>
          </a:p>
        </p:txBody>
      </p:sp>
      <p:sp>
        <p:nvSpPr>
          <p:cNvPr id="136" name="Google Shape;136;p27"/>
          <p:cNvSpPr/>
          <p:nvPr/>
        </p:nvSpPr>
        <p:spPr>
          <a:xfrm>
            <a:off x="493831" y="2435743"/>
            <a:ext cx="1473900" cy="1473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27"/>
          <p:cNvSpPr/>
          <p:nvPr/>
        </p:nvSpPr>
        <p:spPr>
          <a:xfrm>
            <a:off x="2609856" y="2435743"/>
            <a:ext cx="1473900" cy="1473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27"/>
          <p:cNvSpPr/>
          <p:nvPr/>
        </p:nvSpPr>
        <p:spPr>
          <a:xfrm>
            <a:off x="4725881" y="2435743"/>
            <a:ext cx="1473900" cy="1473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40" name="Google Shape;140;p27"/>
          <p:cNvCxnSpPr/>
          <p:nvPr/>
        </p:nvCxnSpPr>
        <p:spPr>
          <a:xfrm>
            <a:off x="6809150" y="5165750"/>
            <a:ext cx="2023200" cy="0"/>
          </a:xfrm>
          <a:prstGeom prst="straightConnector1">
            <a:avLst/>
          </a:prstGeom>
          <a:noFill/>
          <a:ln w="9525" cap="flat" cmpd="sng">
            <a:solidFill>
              <a:srgbClr val="0056CB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1" name="Google Shape;141;p27"/>
          <p:cNvSpPr txBox="1"/>
          <p:nvPr/>
        </p:nvSpPr>
        <p:spPr>
          <a:xfrm>
            <a:off x="6799875" y="5175287"/>
            <a:ext cx="2023200" cy="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4000" tIns="90000" rIns="54000" bIns="900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900">
                <a:solidFill>
                  <a:srgbClr val="0066CC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Copia la slide per includere tutte le personas identificate</a:t>
            </a:r>
            <a:endParaRPr sz="900">
              <a:solidFill>
                <a:srgbClr val="0066CC"/>
              </a:solidFill>
              <a:latin typeface="Titillium Web SemiBold"/>
              <a:ea typeface="Titillium Web SemiBold"/>
              <a:cs typeface="Titillium Web SemiBold"/>
              <a:sym typeface="Titillium Web SemiBold"/>
            </a:endParaRPr>
          </a:p>
        </p:txBody>
      </p:sp>
      <p:sp>
        <p:nvSpPr>
          <p:cNvPr id="142" name="Google Shape;142;p27"/>
          <p:cNvSpPr txBox="1"/>
          <p:nvPr/>
        </p:nvSpPr>
        <p:spPr>
          <a:xfrm>
            <a:off x="6809100" y="1399375"/>
            <a:ext cx="2174700" cy="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00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[Quali sono i macro-gruppi rappresentativi del bacino di utenza?]</a:t>
            </a:r>
            <a:endParaRPr sz="1000" b="1">
              <a:solidFill>
                <a:srgbClr val="434343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43" name="Google Shape;143;p27"/>
          <p:cNvSpPr txBox="1"/>
          <p:nvPr/>
        </p:nvSpPr>
        <p:spPr>
          <a:xfrm>
            <a:off x="381250" y="2337818"/>
            <a:ext cx="5091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rgbClr val="434343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1</a:t>
            </a:r>
            <a:endParaRPr sz="1800" b="1">
              <a:solidFill>
                <a:srgbClr val="434343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44" name="Google Shape;144;p27"/>
          <p:cNvSpPr txBox="1"/>
          <p:nvPr/>
        </p:nvSpPr>
        <p:spPr>
          <a:xfrm>
            <a:off x="2489275" y="2337818"/>
            <a:ext cx="5091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rgbClr val="434343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2</a:t>
            </a:r>
            <a:endParaRPr sz="1800" b="1">
              <a:solidFill>
                <a:srgbClr val="434343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45" name="Google Shape;145;p27"/>
          <p:cNvSpPr txBox="1"/>
          <p:nvPr/>
        </p:nvSpPr>
        <p:spPr>
          <a:xfrm>
            <a:off x="4597300" y="2337818"/>
            <a:ext cx="5091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800">
                <a:solidFill>
                  <a:srgbClr val="434343"/>
                </a:solidFill>
                <a:latin typeface="Roboto Mono Light"/>
                <a:ea typeface="Roboto Mono Light"/>
                <a:cs typeface="Roboto Mono Light"/>
                <a:sym typeface="Roboto Mono Light"/>
              </a:rPr>
              <a:t>3</a:t>
            </a:r>
            <a:endParaRPr sz="1800" b="1">
              <a:solidFill>
                <a:srgbClr val="434343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pic>
        <p:nvPicPr>
          <p:cNvPr id="2" name="Google Shape;257;p30">
            <a:extLst>
              <a:ext uri="{FF2B5EF4-FFF2-40B4-BE49-F238E27FC236}">
                <a16:creationId xmlns:a16="http://schemas.microsoft.com/office/drawing/2014/main" id="{D3D8AAB3-8161-575B-1B5B-80DE54E19FA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1802" b="1802"/>
          <a:stretch/>
        </p:blipFill>
        <p:spPr>
          <a:xfrm>
            <a:off x="493831" y="2435743"/>
            <a:ext cx="1516920" cy="1473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253;p30">
            <a:extLst>
              <a:ext uri="{FF2B5EF4-FFF2-40B4-BE49-F238E27FC236}">
                <a16:creationId xmlns:a16="http://schemas.microsoft.com/office/drawing/2014/main" id="{35FB76C4-BB69-B416-E889-F4371C3A3A74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t="1802" b="1802"/>
          <a:stretch/>
        </p:blipFill>
        <p:spPr>
          <a:xfrm>
            <a:off x="2489275" y="2437458"/>
            <a:ext cx="1670123" cy="1573192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261;p30">
            <a:extLst>
              <a:ext uri="{FF2B5EF4-FFF2-40B4-BE49-F238E27FC236}">
                <a16:creationId xmlns:a16="http://schemas.microsoft.com/office/drawing/2014/main" id="{AD5C009B-9818-7CF6-618E-5156AC27F8F4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1802" b="1802"/>
          <a:stretch/>
        </p:blipFill>
        <p:spPr>
          <a:xfrm>
            <a:off x="4621450" y="2337818"/>
            <a:ext cx="1752274" cy="1634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8"/>
          <p:cNvSpPr/>
          <p:nvPr/>
        </p:nvSpPr>
        <p:spPr>
          <a:xfrm>
            <a:off x="-6450" y="-25775"/>
            <a:ext cx="2268000" cy="5749800"/>
          </a:xfrm>
          <a:prstGeom prst="rect">
            <a:avLst/>
          </a:prstGeom>
          <a:solidFill>
            <a:srgbClr val="F4F4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2" name="Google Shape;15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575" y="3188701"/>
            <a:ext cx="282925" cy="202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8"/>
          <p:cNvSpPr txBox="1"/>
          <p:nvPr/>
        </p:nvSpPr>
        <p:spPr>
          <a:xfrm>
            <a:off x="233101" y="3389550"/>
            <a:ext cx="19071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Tutti dovrebbero tenersi aggiornati sul calcio, sennò non capisci le partite!</a:t>
            </a:r>
            <a:endParaRPr dirty="0">
              <a:solidFill>
                <a:srgbClr val="434343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54" name="Google Shape;154;p28"/>
          <p:cNvSpPr txBox="1"/>
          <p:nvPr/>
        </p:nvSpPr>
        <p:spPr>
          <a:xfrm>
            <a:off x="213649" y="422322"/>
            <a:ext cx="1907100" cy="37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2800" b="1" dirty="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Massimo</a:t>
            </a:r>
            <a:endParaRPr sz="2800" b="1" dirty="0">
              <a:solidFill>
                <a:srgbClr val="434343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55" name="Google Shape;155;p28"/>
          <p:cNvSpPr txBox="1"/>
          <p:nvPr/>
        </p:nvSpPr>
        <p:spPr>
          <a:xfrm>
            <a:off x="213650" y="732799"/>
            <a:ext cx="2005800" cy="4420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 b="1" dirty="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Commesso in negozio di alimentari</a:t>
            </a:r>
            <a:endParaRPr sz="1100" b="1" dirty="0">
              <a:solidFill>
                <a:srgbClr val="434343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56" name="Google Shape;156;p28"/>
          <p:cNvSpPr txBox="1"/>
          <p:nvPr/>
        </p:nvSpPr>
        <p:spPr>
          <a:xfrm>
            <a:off x="2601875" y="551063"/>
            <a:ext cx="2454600" cy="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 b="1">
                <a:solidFill>
                  <a:srgbClr val="0066CC"/>
                </a:solidFill>
                <a:latin typeface="Titillium Web"/>
                <a:ea typeface="Titillium Web"/>
                <a:cs typeface="Titillium Web"/>
                <a:sym typeface="Titillium Web"/>
              </a:rPr>
              <a:t>BACKGROUND</a:t>
            </a:r>
            <a:endParaRPr sz="1100" b="1">
              <a:solidFill>
                <a:srgbClr val="0066CC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57" name="Google Shape;157;p28"/>
          <p:cNvSpPr txBox="1"/>
          <p:nvPr/>
        </p:nvSpPr>
        <p:spPr>
          <a:xfrm>
            <a:off x="2601875" y="808987"/>
            <a:ext cx="2349000" cy="16501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050" dirty="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Massimo è un assiduo tifoso e segue tutte le partite della Juventus. Nel tempo libero ama uscire con gli amici e andare in birreria per vedere una partita e discutere sulle migliori squadre. Per fare punti sul fantacalcio prova anche ad aggiornarsi sulle notizie e sui migliori calciatori.</a:t>
            </a:r>
            <a:endParaRPr sz="1050" dirty="0">
              <a:solidFill>
                <a:srgbClr val="434343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58" name="Google Shape;158;p28"/>
          <p:cNvSpPr txBox="1"/>
          <p:nvPr/>
        </p:nvSpPr>
        <p:spPr>
          <a:xfrm>
            <a:off x="213650" y="8218"/>
            <a:ext cx="2047800" cy="2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 dirty="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PERSONA N. 1</a:t>
            </a:r>
            <a:endParaRPr sz="1000" dirty="0">
              <a:solidFill>
                <a:srgbClr val="434343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59" name="Google Shape;159;p28"/>
          <p:cNvSpPr/>
          <p:nvPr/>
        </p:nvSpPr>
        <p:spPr>
          <a:xfrm>
            <a:off x="393031" y="1483843"/>
            <a:ext cx="1473900" cy="1473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28"/>
          <p:cNvSpPr txBox="1"/>
          <p:nvPr/>
        </p:nvSpPr>
        <p:spPr>
          <a:xfrm>
            <a:off x="5377250" y="2465900"/>
            <a:ext cx="1581600" cy="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100" b="1">
                <a:solidFill>
                  <a:srgbClr val="0066CC"/>
                </a:solidFill>
                <a:latin typeface="Titillium Web"/>
                <a:ea typeface="Titillium Web"/>
                <a:cs typeface="Titillium Web"/>
                <a:sym typeface="Titillium Web"/>
              </a:rPr>
              <a:t>NECESSITÀ</a:t>
            </a:r>
            <a:endParaRPr sz="1100" b="1">
              <a:solidFill>
                <a:srgbClr val="0066CC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61" name="Google Shape;161;p28"/>
          <p:cNvSpPr txBox="1"/>
          <p:nvPr/>
        </p:nvSpPr>
        <p:spPr>
          <a:xfrm>
            <a:off x="5333300" y="551063"/>
            <a:ext cx="2454600" cy="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 b="1">
                <a:solidFill>
                  <a:srgbClr val="0066CC"/>
                </a:solidFill>
                <a:latin typeface="Titillium Web"/>
                <a:ea typeface="Titillium Web"/>
                <a:cs typeface="Titillium Web"/>
                <a:sym typeface="Titillium Web"/>
              </a:rPr>
              <a:t>COMPORTAMENTI</a:t>
            </a:r>
            <a:endParaRPr sz="1100" b="1">
              <a:solidFill>
                <a:srgbClr val="0066CC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62" name="Google Shape;162;p28"/>
          <p:cNvSpPr txBox="1"/>
          <p:nvPr/>
        </p:nvSpPr>
        <p:spPr>
          <a:xfrm>
            <a:off x="5333300" y="808988"/>
            <a:ext cx="3387900" cy="1656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-IT" sz="1100" dirty="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Si rivolge al servizio per ottenere informazioni sulle statistiche delle diverse squadre e dei vari calciatori.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-IT" sz="1100" dirty="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Accede al servizio principalmente dal suo telefono, questo gli impedisce di usare alcuni siti la cui interfaccia non è ottimizzata.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-IT" sz="1100" dirty="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Spesso si innervosisce se non trova velocemente ciò che desidera, quindi preferisce siti chiari, puliti e con le parti essenziali ben visibili.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dirty="0">
              <a:solidFill>
                <a:srgbClr val="434343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63" name="Google Shape;163;p28"/>
          <p:cNvSpPr txBox="1"/>
          <p:nvPr/>
        </p:nvSpPr>
        <p:spPr>
          <a:xfrm>
            <a:off x="7093463" y="2465900"/>
            <a:ext cx="1581600" cy="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100" b="1">
                <a:solidFill>
                  <a:srgbClr val="0066CC"/>
                </a:solidFill>
                <a:latin typeface="Titillium Web"/>
                <a:ea typeface="Titillium Web"/>
                <a:cs typeface="Titillium Web"/>
                <a:sym typeface="Titillium Web"/>
              </a:rPr>
              <a:t>DIFFICOLTÀ</a:t>
            </a:r>
            <a:endParaRPr sz="1100" b="1">
              <a:solidFill>
                <a:srgbClr val="0066CC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64" name="Google Shape;164;p28"/>
          <p:cNvSpPr txBox="1"/>
          <p:nvPr/>
        </p:nvSpPr>
        <p:spPr>
          <a:xfrm>
            <a:off x="7093454" y="2777300"/>
            <a:ext cx="1671600" cy="22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00799" lvl="0" indent="-113899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434343"/>
              </a:buClr>
              <a:buSzPts val="1000"/>
              <a:buFont typeface="Titillium Web"/>
              <a:buChar char="●"/>
            </a:pPr>
            <a:r>
              <a:rPr lang="it-IT" sz="1000" b="1" dirty="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Termini tecnici troppo difficili o non spiegati</a:t>
            </a:r>
          </a:p>
          <a:p>
            <a:pPr marL="100799" lvl="0" indent="-113899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434343"/>
              </a:buClr>
              <a:buSzPts val="1000"/>
              <a:buFont typeface="Titillium Web"/>
              <a:buChar char="●"/>
            </a:pPr>
            <a:r>
              <a:rPr lang="it-IT" sz="1000" b="1" dirty="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Dati o grafi troppo complessi</a:t>
            </a:r>
          </a:p>
          <a:p>
            <a:pPr marL="100799" lvl="0" indent="-113899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434343"/>
              </a:buClr>
              <a:buSzPts val="1000"/>
              <a:buFont typeface="Titillium Web"/>
              <a:buChar char="●"/>
            </a:pPr>
            <a:r>
              <a:rPr lang="it-IT" sz="1000" b="1" dirty="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Navigazione in siti troppo verbosi</a:t>
            </a:r>
          </a:p>
          <a:p>
            <a:pPr marL="100799" lvl="0" indent="-113899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434343"/>
              </a:buClr>
              <a:buSzPts val="1000"/>
              <a:buFont typeface="Titillium Web"/>
              <a:buChar char="●"/>
            </a:pPr>
            <a:r>
              <a:rPr lang="it-IT" sz="1000" b="1" dirty="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Accesso ad alcuni siti difficile da cellulare</a:t>
            </a:r>
          </a:p>
        </p:txBody>
      </p:sp>
      <p:sp>
        <p:nvSpPr>
          <p:cNvPr id="165" name="Google Shape;165;p28"/>
          <p:cNvSpPr txBox="1"/>
          <p:nvPr/>
        </p:nvSpPr>
        <p:spPr>
          <a:xfrm>
            <a:off x="5377250" y="2777300"/>
            <a:ext cx="1671600" cy="24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00799" lvl="0" indent="-113899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434343"/>
              </a:buClr>
              <a:buSzPts val="1000"/>
              <a:buFont typeface="Titillium Web"/>
              <a:buChar char="●"/>
            </a:pPr>
            <a:r>
              <a:rPr lang="it-IT" sz="1000" b="1" dirty="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U</a:t>
            </a:r>
            <a:r>
              <a:rPr lang="it" sz="1000" b="1" dirty="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n servizio facile e veloce</a:t>
            </a:r>
          </a:p>
          <a:p>
            <a:pPr marL="100799" lvl="0" indent="-113899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434343"/>
              </a:buClr>
              <a:buSzPts val="1000"/>
              <a:buFont typeface="Titillium Web"/>
              <a:buChar char="●"/>
            </a:pPr>
            <a:r>
              <a:rPr lang="it" sz="1000" b="1" dirty="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Dati aggiornati su diverse squadre</a:t>
            </a:r>
          </a:p>
          <a:p>
            <a:pPr marL="100799" lvl="0" indent="-113899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434343"/>
              </a:buClr>
              <a:buSzPts val="1000"/>
              <a:buFont typeface="Titillium Web"/>
              <a:buChar char="●"/>
            </a:pPr>
            <a:r>
              <a:rPr lang="it" sz="1000" b="1" dirty="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Grafici visualmente semplici</a:t>
            </a:r>
          </a:p>
          <a:p>
            <a:pPr marL="100799" lvl="0" indent="-113899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434343"/>
              </a:buClr>
              <a:buSzPts val="1000"/>
              <a:buFont typeface="Titillium Web"/>
              <a:buChar char="●"/>
            </a:pPr>
            <a:r>
              <a:rPr lang="it" sz="1000" b="1" dirty="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Consigli sulle migliori squadre/giocatori da parte del servizio</a:t>
            </a:r>
          </a:p>
        </p:txBody>
      </p:sp>
      <p:sp>
        <p:nvSpPr>
          <p:cNvPr id="166" name="Google Shape;166;p28"/>
          <p:cNvSpPr txBox="1"/>
          <p:nvPr/>
        </p:nvSpPr>
        <p:spPr>
          <a:xfrm>
            <a:off x="213649" y="1120972"/>
            <a:ext cx="2005800" cy="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 dirty="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35 anni</a:t>
            </a:r>
            <a:endParaRPr sz="1100" dirty="0">
              <a:solidFill>
                <a:srgbClr val="434343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pic>
        <p:nvPicPr>
          <p:cNvPr id="167" name="Google Shape;167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8563" y="5083900"/>
            <a:ext cx="1448532" cy="3054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8" name="Google Shape;168;p28"/>
          <p:cNvCxnSpPr>
            <a:cxnSpLocks/>
            <a:endCxn id="169" idx="6"/>
          </p:cNvCxnSpPr>
          <p:nvPr/>
        </p:nvCxnSpPr>
        <p:spPr>
          <a:xfrm>
            <a:off x="2781192" y="3367817"/>
            <a:ext cx="1971000" cy="0"/>
          </a:xfrm>
          <a:prstGeom prst="straightConnector1">
            <a:avLst/>
          </a:prstGeom>
          <a:noFill/>
          <a:ln w="19050" cap="flat" cmpd="sng">
            <a:solidFill>
              <a:srgbClr val="0066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0" name="Google Shape;170;p28"/>
          <p:cNvSpPr/>
          <p:nvPr/>
        </p:nvSpPr>
        <p:spPr>
          <a:xfrm>
            <a:off x="2746552" y="3326258"/>
            <a:ext cx="692295" cy="83100"/>
          </a:xfrm>
          <a:prstGeom prst="rect">
            <a:avLst/>
          </a:prstGeom>
          <a:solidFill>
            <a:srgbClr val="0066CC">
              <a:alpha val="564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28"/>
          <p:cNvSpPr/>
          <p:nvPr/>
        </p:nvSpPr>
        <p:spPr>
          <a:xfrm>
            <a:off x="3360058" y="3326267"/>
            <a:ext cx="83400" cy="831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66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28"/>
          <p:cNvSpPr/>
          <p:nvPr/>
        </p:nvSpPr>
        <p:spPr>
          <a:xfrm>
            <a:off x="4018579" y="3326267"/>
            <a:ext cx="83400" cy="831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66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28"/>
          <p:cNvSpPr/>
          <p:nvPr/>
        </p:nvSpPr>
        <p:spPr>
          <a:xfrm>
            <a:off x="4668792" y="3326267"/>
            <a:ext cx="83400" cy="831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66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28"/>
          <p:cNvSpPr/>
          <p:nvPr/>
        </p:nvSpPr>
        <p:spPr>
          <a:xfrm>
            <a:off x="2701537" y="3326267"/>
            <a:ext cx="83400" cy="831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66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28"/>
          <p:cNvSpPr txBox="1"/>
          <p:nvPr/>
        </p:nvSpPr>
        <p:spPr>
          <a:xfrm>
            <a:off x="2629089" y="2481500"/>
            <a:ext cx="22680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 b="1" dirty="0">
                <a:solidFill>
                  <a:srgbClr val="0066CC"/>
                </a:solidFill>
                <a:latin typeface="Titillium Web"/>
                <a:ea typeface="Titillium Web"/>
                <a:cs typeface="Titillium Web"/>
                <a:sym typeface="Titillium Web"/>
              </a:rPr>
              <a:t>CULTURA DIGITALE</a:t>
            </a:r>
            <a:endParaRPr sz="1100" b="1" dirty="0">
              <a:solidFill>
                <a:srgbClr val="0066CC"/>
              </a:solidFill>
              <a:highlight>
                <a:srgbClr val="FFAB40"/>
              </a:highlight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75" name="Google Shape;175;p28"/>
          <p:cNvSpPr txBox="1"/>
          <p:nvPr/>
        </p:nvSpPr>
        <p:spPr>
          <a:xfrm>
            <a:off x="2634094" y="2712660"/>
            <a:ext cx="2528700" cy="481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000" dirty="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Bassa. Usa </a:t>
            </a:r>
            <a:r>
              <a:rPr lang="it-IT" sz="1000" dirty="0"/>
              <a:t>principalmente internet per social media, email e siti di notizie.</a:t>
            </a:r>
            <a:endParaRPr sz="1000" dirty="0">
              <a:solidFill>
                <a:srgbClr val="434343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1" dirty="0">
              <a:solidFill>
                <a:srgbClr val="434343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cxnSp>
        <p:nvCxnSpPr>
          <p:cNvPr id="176" name="Google Shape;176;p28"/>
          <p:cNvCxnSpPr>
            <a:endCxn id="177" idx="6"/>
          </p:cNvCxnSpPr>
          <p:nvPr/>
        </p:nvCxnSpPr>
        <p:spPr>
          <a:xfrm>
            <a:off x="2781192" y="4458447"/>
            <a:ext cx="1971000" cy="0"/>
          </a:xfrm>
          <a:prstGeom prst="straightConnector1">
            <a:avLst/>
          </a:prstGeom>
          <a:noFill/>
          <a:ln w="19050" cap="flat" cmpd="sng">
            <a:solidFill>
              <a:srgbClr val="0066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8" name="Google Shape;178;p28"/>
          <p:cNvSpPr/>
          <p:nvPr/>
        </p:nvSpPr>
        <p:spPr>
          <a:xfrm>
            <a:off x="2746551" y="4416888"/>
            <a:ext cx="1355427" cy="82841"/>
          </a:xfrm>
          <a:prstGeom prst="rect">
            <a:avLst/>
          </a:prstGeom>
          <a:solidFill>
            <a:srgbClr val="0066CC">
              <a:alpha val="564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28"/>
          <p:cNvSpPr/>
          <p:nvPr/>
        </p:nvSpPr>
        <p:spPr>
          <a:xfrm>
            <a:off x="3360058" y="4416897"/>
            <a:ext cx="83400" cy="831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66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28"/>
          <p:cNvSpPr/>
          <p:nvPr/>
        </p:nvSpPr>
        <p:spPr>
          <a:xfrm>
            <a:off x="4018579" y="4416897"/>
            <a:ext cx="83400" cy="831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66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28"/>
          <p:cNvSpPr/>
          <p:nvPr/>
        </p:nvSpPr>
        <p:spPr>
          <a:xfrm>
            <a:off x="4668792" y="4416897"/>
            <a:ext cx="83400" cy="831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66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28"/>
          <p:cNvSpPr/>
          <p:nvPr/>
        </p:nvSpPr>
        <p:spPr>
          <a:xfrm>
            <a:off x="2701537" y="4416897"/>
            <a:ext cx="83400" cy="831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66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28"/>
          <p:cNvSpPr txBox="1"/>
          <p:nvPr/>
        </p:nvSpPr>
        <p:spPr>
          <a:xfrm>
            <a:off x="2629089" y="3641376"/>
            <a:ext cx="22680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 b="1">
                <a:solidFill>
                  <a:srgbClr val="0066CC"/>
                </a:solidFill>
                <a:latin typeface="Titillium Web"/>
                <a:ea typeface="Titillium Web"/>
                <a:cs typeface="Titillium Web"/>
                <a:sym typeface="Titillium Web"/>
              </a:rPr>
              <a:t>CONOSCENZA DELL’AMBITO</a:t>
            </a:r>
            <a:endParaRPr sz="1100" b="1">
              <a:solidFill>
                <a:srgbClr val="434343"/>
              </a:solidFill>
              <a:highlight>
                <a:srgbClr val="FFAB40"/>
              </a:highlight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83" name="Google Shape;183;p28"/>
          <p:cNvSpPr txBox="1"/>
          <p:nvPr/>
        </p:nvSpPr>
        <p:spPr>
          <a:xfrm>
            <a:off x="2631675" y="3876624"/>
            <a:ext cx="2528700" cy="425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 dirty="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Media. Ha conoscenze nell’ambito calcistico, ma non molte sui dati</a:t>
            </a:r>
            <a:endParaRPr sz="1000" b="1" dirty="0">
              <a:solidFill>
                <a:srgbClr val="434343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cxnSp>
        <p:nvCxnSpPr>
          <p:cNvPr id="184" name="Google Shape;184;p28"/>
          <p:cNvCxnSpPr/>
          <p:nvPr/>
        </p:nvCxnSpPr>
        <p:spPr>
          <a:xfrm>
            <a:off x="5108900" y="-6325"/>
            <a:ext cx="0" cy="5713200"/>
          </a:xfrm>
          <a:prstGeom prst="straightConnector1">
            <a:avLst/>
          </a:prstGeom>
          <a:noFill/>
          <a:ln w="9525" cap="flat" cmpd="sng">
            <a:solidFill>
              <a:srgbClr val="0056CB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5" name="Google Shape;185;p28"/>
          <p:cNvSpPr txBox="1"/>
          <p:nvPr/>
        </p:nvSpPr>
        <p:spPr>
          <a:xfrm>
            <a:off x="5333300" y="242800"/>
            <a:ext cx="14118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900" b="1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USO DEL SERVIZIO</a:t>
            </a:r>
            <a:endParaRPr sz="900" b="1">
              <a:solidFill>
                <a:srgbClr val="434343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86" name="Google Shape;186;p28"/>
          <p:cNvSpPr txBox="1"/>
          <p:nvPr/>
        </p:nvSpPr>
        <p:spPr>
          <a:xfrm>
            <a:off x="2601875" y="242800"/>
            <a:ext cx="14118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900" b="1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PROFILO</a:t>
            </a:r>
            <a:endParaRPr sz="900" b="1">
              <a:solidFill>
                <a:srgbClr val="434343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cxnSp>
        <p:nvCxnSpPr>
          <p:cNvPr id="187" name="Google Shape;187;p28"/>
          <p:cNvCxnSpPr>
            <a:endCxn id="188" idx="6"/>
          </p:cNvCxnSpPr>
          <p:nvPr/>
        </p:nvCxnSpPr>
        <p:spPr>
          <a:xfrm>
            <a:off x="2781192" y="5317072"/>
            <a:ext cx="1971000" cy="0"/>
          </a:xfrm>
          <a:prstGeom prst="straightConnector1">
            <a:avLst/>
          </a:prstGeom>
          <a:noFill/>
          <a:ln w="19050" cap="flat" cmpd="sng">
            <a:solidFill>
              <a:srgbClr val="0066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9" name="Google Shape;189;p28"/>
          <p:cNvSpPr/>
          <p:nvPr/>
        </p:nvSpPr>
        <p:spPr>
          <a:xfrm>
            <a:off x="2746552" y="5275513"/>
            <a:ext cx="927000" cy="83100"/>
          </a:xfrm>
          <a:prstGeom prst="rect">
            <a:avLst/>
          </a:prstGeom>
          <a:solidFill>
            <a:srgbClr val="0066CC">
              <a:alpha val="564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28"/>
          <p:cNvSpPr/>
          <p:nvPr/>
        </p:nvSpPr>
        <p:spPr>
          <a:xfrm>
            <a:off x="3360058" y="5275522"/>
            <a:ext cx="83400" cy="831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66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28"/>
          <p:cNvSpPr/>
          <p:nvPr/>
        </p:nvSpPr>
        <p:spPr>
          <a:xfrm>
            <a:off x="4018579" y="5275522"/>
            <a:ext cx="83400" cy="831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66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28"/>
          <p:cNvSpPr/>
          <p:nvPr/>
        </p:nvSpPr>
        <p:spPr>
          <a:xfrm>
            <a:off x="4668792" y="5275522"/>
            <a:ext cx="83400" cy="831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66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28"/>
          <p:cNvSpPr/>
          <p:nvPr/>
        </p:nvSpPr>
        <p:spPr>
          <a:xfrm>
            <a:off x="2701537" y="5275522"/>
            <a:ext cx="83400" cy="831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66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28"/>
          <p:cNvSpPr txBox="1"/>
          <p:nvPr/>
        </p:nvSpPr>
        <p:spPr>
          <a:xfrm>
            <a:off x="2629089" y="4614301"/>
            <a:ext cx="22680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 b="1">
                <a:solidFill>
                  <a:srgbClr val="0066CC"/>
                </a:solidFill>
                <a:latin typeface="Titillium Web"/>
                <a:ea typeface="Titillium Web"/>
                <a:cs typeface="Titillium Web"/>
                <a:sym typeface="Titillium Web"/>
              </a:rPr>
              <a:t>FREQUENZA D’USO</a:t>
            </a:r>
            <a:endParaRPr sz="1100" b="1">
              <a:solidFill>
                <a:srgbClr val="434343"/>
              </a:solidFill>
              <a:highlight>
                <a:srgbClr val="FFAB40"/>
              </a:highlight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94" name="Google Shape;194;p28"/>
          <p:cNvSpPr txBox="1"/>
          <p:nvPr/>
        </p:nvSpPr>
        <p:spPr>
          <a:xfrm>
            <a:off x="2631675" y="4849550"/>
            <a:ext cx="2528700" cy="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 dirty="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Settimanale</a:t>
            </a:r>
            <a:endParaRPr sz="1000" dirty="0">
              <a:solidFill>
                <a:srgbClr val="434343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pic>
        <p:nvPicPr>
          <p:cNvPr id="2" name="Google Shape;257;p30">
            <a:extLst>
              <a:ext uri="{FF2B5EF4-FFF2-40B4-BE49-F238E27FC236}">
                <a16:creationId xmlns:a16="http://schemas.microsoft.com/office/drawing/2014/main" id="{B2959D95-9D8C-6ABF-2CF7-A7D60CFBF5C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1802" b="1802"/>
          <a:stretch/>
        </p:blipFill>
        <p:spPr>
          <a:xfrm>
            <a:off x="428191" y="1432372"/>
            <a:ext cx="1516920" cy="1473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8"/>
          <p:cNvSpPr/>
          <p:nvPr/>
        </p:nvSpPr>
        <p:spPr>
          <a:xfrm>
            <a:off x="-6450" y="-25775"/>
            <a:ext cx="2268000" cy="5749800"/>
          </a:xfrm>
          <a:prstGeom prst="rect">
            <a:avLst/>
          </a:prstGeom>
          <a:solidFill>
            <a:srgbClr val="F4F4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2" name="Google Shape;15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575" y="3188701"/>
            <a:ext cx="282925" cy="202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8"/>
          <p:cNvSpPr txBox="1"/>
          <p:nvPr/>
        </p:nvSpPr>
        <p:spPr>
          <a:xfrm>
            <a:off x="233101" y="3389550"/>
            <a:ext cx="1907100" cy="138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dirty="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Tramite i dati si ottengono le informazioni e tramite le informazioni la conoscenza!</a:t>
            </a:r>
            <a:endParaRPr dirty="0">
              <a:solidFill>
                <a:srgbClr val="434343"/>
              </a:solidFill>
              <a:highlight>
                <a:schemeClr val="accent1"/>
              </a:highlight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54" name="Google Shape;154;p28"/>
          <p:cNvSpPr txBox="1"/>
          <p:nvPr/>
        </p:nvSpPr>
        <p:spPr>
          <a:xfrm>
            <a:off x="213649" y="422322"/>
            <a:ext cx="1907100" cy="37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2800" b="1" dirty="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Alessandro</a:t>
            </a:r>
            <a:endParaRPr sz="2800" b="1" dirty="0">
              <a:solidFill>
                <a:srgbClr val="434343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55" name="Google Shape;155;p28"/>
          <p:cNvSpPr txBox="1"/>
          <p:nvPr/>
        </p:nvSpPr>
        <p:spPr>
          <a:xfrm>
            <a:off x="213650" y="732800"/>
            <a:ext cx="2005800" cy="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 b="1" dirty="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Analista di calcio mercato</a:t>
            </a:r>
            <a:endParaRPr sz="1100" b="1" dirty="0">
              <a:solidFill>
                <a:srgbClr val="434343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56" name="Google Shape;156;p28"/>
          <p:cNvSpPr txBox="1"/>
          <p:nvPr/>
        </p:nvSpPr>
        <p:spPr>
          <a:xfrm>
            <a:off x="2601875" y="551063"/>
            <a:ext cx="2454600" cy="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 b="1">
                <a:solidFill>
                  <a:srgbClr val="0066CC"/>
                </a:solidFill>
                <a:latin typeface="Titillium Web"/>
                <a:ea typeface="Titillium Web"/>
                <a:cs typeface="Titillium Web"/>
                <a:sym typeface="Titillium Web"/>
              </a:rPr>
              <a:t>BACKGROUND</a:t>
            </a:r>
            <a:endParaRPr sz="1100" b="1">
              <a:solidFill>
                <a:srgbClr val="0066CC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57" name="Google Shape;157;p28"/>
          <p:cNvSpPr txBox="1"/>
          <p:nvPr/>
        </p:nvSpPr>
        <p:spPr>
          <a:xfrm>
            <a:off x="2601875" y="808987"/>
            <a:ext cx="2349000" cy="17306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000" dirty="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Alessandro è un padre di famiglia che ama passare i weekend al parco e le serate a leggere. Talvolta porta del lavoro a casa e guarda qualche partita o legge qualche notizia di calcio, anche se ormai è più un lavoro che un piacere. Molto curioso sui nuovi metodi di ricerca, è sempre pronto a trovare nuovi modi per analizzare i dati di lavoro.</a:t>
            </a:r>
          </a:p>
        </p:txBody>
      </p:sp>
      <p:sp>
        <p:nvSpPr>
          <p:cNvPr id="158" name="Google Shape;158;p28"/>
          <p:cNvSpPr txBox="1"/>
          <p:nvPr/>
        </p:nvSpPr>
        <p:spPr>
          <a:xfrm>
            <a:off x="213650" y="8218"/>
            <a:ext cx="2047800" cy="2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 dirty="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PERSONA N. 2</a:t>
            </a:r>
            <a:endParaRPr sz="1000" dirty="0">
              <a:solidFill>
                <a:srgbClr val="434343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59" name="Google Shape;159;p28"/>
          <p:cNvSpPr/>
          <p:nvPr/>
        </p:nvSpPr>
        <p:spPr>
          <a:xfrm>
            <a:off x="393031" y="1483843"/>
            <a:ext cx="1473900" cy="1473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28"/>
          <p:cNvSpPr txBox="1"/>
          <p:nvPr/>
        </p:nvSpPr>
        <p:spPr>
          <a:xfrm>
            <a:off x="5377250" y="2465900"/>
            <a:ext cx="1581600" cy="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100" b="1">
                <a:solidFill>
                  <a:srgbClr val="0066CC"/>
                </a:solidFill>
                <a:latin typeface="Titillium Web"/>
                <a:ea typeface="Titillium Web"/>
                <a:cs typeface="Titillium Web"/>
                <a:sym typeface="Titillium Web"/>
              </a:rPr>
              <a:t>NECESSITÀ</a:t>
            </a:r>
            <a:endParaRPr sz="1100" b="1">
              <a:solidFill>
                <a:srgbClr val="0066CC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61" name="Google Shape;161;p28"/>
          <p:cNvSpPr txBox="1"/>
          <p:nvPr/>
        </p:nvSpPr>
        <p:spPr>
          <a:xfrm>
            <a:off x="5333300" y="551063"/>
            <a:ext cx="2454600" cy="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 b="1">
                <a:solidFill>
                  <a:srgbClr val="0066CC"/>
                </a:solidFill>
                <a:latin typeface="Titillium Web"/>
                <a:ea typeface="Titillium Web"/>
                <a:cs typeface="Titillium Web"/>
                <a:sym typeface="Titillium Web"/>
              </a:rPr>
              <a:t>COMPORTAMENTI</a:t>
            </a:r>
            <a:endParaRPr sz="1100" b="1">
              <a:solidFill>
                <a:srgbClr val="0066CC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62" name="Google Shape;162;p28"/>
          <p:cNvSpPr txBox="1"/>
          <p:nvPr/>
        </p:nvSpPr>
        <p:spPr>
          <a:xfrm>
            <a:off x="5333300" y="808987"/>
            <a:ext cx="3387900" cy="1628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-IT" sz="1100" dirty="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Alessandro si rivolge al servizio per il suo lavoro, quindi principalmente utilizza un computer. Preferisce i servizi che danno maggiore importanza ai dati che all’estetica e, avendo tempo per le analisi, passa ore ad analizzare grafici.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-IT" sz="1100" dirty="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Ha bisogno di ricavare molte informazioni, quindi usa sempre diverse funzioni per incrociare i dati più disparati per ottenere ciò che gli è utile.</a:t>
            </a:r>
            <a:endParaRPr sz="1100" dirty="0">
              <a:solidFill>
                <a:srgbClr val="434343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63" name="Google Shape;163;p28"/>
          <p:cNvSpPr txBox="1"/>
          <p:nvPr/>
        </p:nvSpPr>
        <p:spPr>
          <a:xfrm>
            <a:off x="7093463" y="2465900"/>
            <a:ext cx="1581600" cy="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100" b="1">
                <a:solidFill>
                  <a:srgbClr val="0066CC"/>
                </a:solidFill>
                <a:latin typeface="Titillium Web"/>
                <a:ea typeface="Titillium Web"/>
                <a:cs typeface="Titillium Web"/>
                <a:sym typeface="Titillium Web"/>
              </a:rPr>
              <a:t>DIFFICOLTÀ</a:t>
            </a:r>
            <a:endParaRPr sz="1100" b="1">
              <a:solidFill>
                <a:srgbClr val="0066CC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64" name="Google Shape;164;p28"/>
          <p:cNvSpPr txBox="1"/>
          <p:nvPr/>
        </p:nvSpPr>
        <p:spPr>
          <a:xfrm>
            <a:off x="7093454" y="2777300"/>
            <a:ext cx="1671600" cy="22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00799" lvl="0" indent="-113899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434343"/>
              </a:buClr>
              <a:buSzPts val="1000"/>
              <a:buFont typeface="Titillium Web"/>
              <a:buChar char="●"/>
            </a:pPr>
            <a:r>
              <a:rPr lang="it-IT" sz="1000" b="1" dirty="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S</a:t>
            </a:r>
            <a:r>
              <a:rPr lang="it" sz="1000" b="1" dirty="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ervizio diverso dallo standard abituale</a:t>
            </a:r>
          </a:p>
          <a:p>
            <a:pPr marL="100799" lvl="0" indent="-113899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434343"/>
              </a:buClr>
              <a:buSzPts val="1000"/>
              <a:buFont typeface="Titillium Web"/>
              <a:buChar char="●"/>
            </a:pPr>
            <a:r>
              <a:rPr lang="it" sz="1000" b="1" dirty="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Servizio limitato e non abbastanza ampio per le sue necessità</a:t>
            </a:r>
          </a:p>
          <a:p>
            <a:pPr marL="100799" lvl="0" indent="-113899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434343"/>
              </a:buClr>
              <a:buSzPts val="1000"/>
              <a:buFont typeface="Titillium Web"/>
              <a:buChar char="●"/>
            </a:pPr>
            <a:endParaRPr lang="it" sz="1000" b="1" dirty="0">
              <a:solidFill>
                <a:srgbClr val="434343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65" name="Google Shape;165;p28"/>
          <p:cNvSpPr txBox="1"/>
          <p:nvPr/>
        </p:nvSpPr>
        <p:spPr>
          <a:xfrm>
            <a:off x="5377250" y="2777300"/>
            <a:ext cx="1671600" cy="24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00799" lvl="0" indent="-113899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434343"/>
              </a:buClr>
              <a:buSzPts val="1000"/>
              <a:buFont typeface="Titillium Web"/>
              <a:buChar char="●"/>
            </a:pPr>
            <a:r>
              <a:rPr lang="it" sz="1000" b="1" dirty="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Dati nuovi e sicuri</a:t>
            </a:r>
          </a:p>
          <a:p>
            <a:pPr marL="100799" lvl="0" indent="-113899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434343"/>
              </a:buClr>
              <a:buSzPts val="1000"/>
              <a:buFont typeface="Titillium Web"/>
              <a:buChar char="●"/>
            </a:pPr>
            <a:r>
              <a:rPr lang="it" sz="1000" b="1" dirty="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Visualizzazione semplice, ma anche più raffinata</a:t>
            </a:r>
          </a:p>
          <a:p>
            <a:pPr marL="100799" lvl="0" indent="-113899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434343"/>
              </a:buClr>
              <a:buSzPts val="1000"/>
              <a:buFont typeface="Titillium Web"/>
              <a:buChar char="●"/>
            </a:pPr>
            <a:r>
              <a:rPr lang="it" sz="1000" b="1" dirty="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Possibilità di lavorare sui dati e metterli a confronto</a:t>
            </a:r>
          </a:p>
          <a:p>
            <a:pPr marL="100799" lvl="0" indent="-113899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434343"/>
              </a:buClr>
              <a:buSzPts val="1000"/>
              <a:buFont typeface="Titillium Web"/>
              <a:buChar char="●"/>
            </a:pPr>
            <a:r>
              <a:rPr lang="it" sz="1000" b="1" dirty="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 Possibilità di esportare i dati ricavati</a:t>
            </a:r>
            <a:endParaRPr sz="1000" b="1" dirty="0">
              <a:solidFill>
                <a:srgbClr val="434343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66" name="Google Shape;166;p28"/>
          <p:cNvSpPr txBox="1"/>
          <p:nvPr/>
        </p:nvSpPr>
        <p:spPr>
          <a:xfrm>
            <a:off x="213650" y="968000"/>
            <a:ext cx="2005800" cy="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 dirty="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42 anni</a:t>
            </a:r>
            <a:endParaRPr sz="1100" dirty="0">
              <a:solidFill>
                <a:srgbClr val="434343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pic>
        <p:nvPicPr>
          <p:cNvPr id="167" name="Google Shape;167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8563" y="5083900"/>
            <a:ext cx="1448532" cy="3054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8" name="Google Shape;168;p28"/>
          <p:cNvCxnSpPr>
            <a:endCxn id="169" idx="6"/>
          </p:cNvCxnSpPr>
          <p:nvPr/>
        </p:nvCxnSpPr>
        <p:spPr>
          <a:xfrm>
            <a:off x="2781192" y="3543077"/>
            <a:ext cx="1971000" cy="0"/>
          </a:xfrm>
          <a:prstGeom prst="straightConnector1">
            <a:avLst/>
          </a:prstGeom>
          <a:noFill/>
          <a:ln w="19050" cap="flat" cmpd="sng">
            <a:solidFill>
              <a:srgbClr val="0066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0" name="Google Shape;170;p28"/>
          <p:cNvSpPr/>
          <p:nvPr/>
        </p:nvSpPr>
        <p:spPr>
          <a:xfrm>
            <a:off x="2746552" y="3501518"/>
            <a:ext cx="1653890" cy="83100"/>
          </a:xfrm>
          <a:prstGeom prst="rect">
            <a:avLst/>
          </a:prstGeom>
          <a:solidFill>
            <a:srgbClr val="0066CC">
              <a:alpha val="564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28"/>
          <p:cNvSpPr/>
          <p:nvPr/>
        </p:nvSpPr>
        <p:spPr>
          <a:xfrm>
            <a:off x="3360058" y="3501527"/>
            <a:ext cx="83400" cy="831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66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28"/>
          <p:cNvSpPr/>
          <p:nvPr/>
        </p:nvSpPr>
        <p:spPr>
          <a:xfrm>
            <a:off x="4018579" y="3501527"/>
            <a:ext cx="83400" cy="831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66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28"/>
          <p:cNvSpPr/>
          <p:nvPr/>
        </p:nvSpPr>
        <p:spPr>
          <a:xfrm>
            <a:off x="4668792" y="3501527"/>
            <a:ext cx="83400" cy="831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66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28"/>
          <p:cNvSpPr/>
          <p:nvPr/>
        </p:nvSpPr>
        <p:spPr>
          <a:xfrm>
            <a:off x="2701537" y="3501527"/>
            <a:ext cx="83400" cy="831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66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28"/>
          <p:cNvSpPr txBox="1"/>
          <p:nvPr/>
        </p:nvSpPr>
        <p:spPr>
          <a:xfrm>
            <a:off x="2629089" y="2581226"/>
            <a:ext cx="22680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 b="1">
                <a:solidFill>
                  <a:srgbClr val="0066CC"/>
                </a:solidFill>
                <a:latin typeface="Titillium Web"/>
                <a:ea typeface="Titillium Web"/>
                <a:cs typeface="Titillium Web"/>
                <a:sym typeface="Titillium Web"/>
              </a:rPr>
              <a:t>CULTURA DIGITALE</a:t>
            </a:r>
            <a:endParaRPr sz="1100" b="1">
              <a:solidFill>
                <a:srgbClr val="0066CC"/>
              </a:solidFill>
              <a:highlight>
                <a:srgbClr val="FFAB40"/>
              </a:highlight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75" name="Google Shape;175;p28"/>
          <p:cNvSpPr txBox="1"/>
          <p:nvPr/>
        </p:nvSpPr>
        <p:spPr>
          <a:xfrm>
            <a:off x="2629089" y="2777745"/>
            <a:ext cx="2458838" cy="64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-IT" sz="1000" dirty="0"/>
              <a:t>Medio/Alta. Esperto in software di analisi dati, database e strumenti di visualizzazione.</a:t>
            </a:r>
            <a:endParaRPr sz="1000" dirty="0">
              <a:solidFill>
                <a:srgbClr val="434343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1" dirty="0">
              <a:solidFill>
                <a:srgbClr val="434343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cxnSp>
        <p:nvCxnSpPr>
          <p:cNvPr id="176" name="Google Shape;176;p28"/>
          <p:cNvCxnSpPr>
            <a:endCxn id="177" idx="6"/>
          </p:cNvCxnSpPr>
          <p:nvPr/>
        </p:nvCxnSpPr>
        <p:spPr>
          <a:xfrm>
            <a:off x="2781192" y="4481307"/>
            <a:ext cx="1971000" cy="0"/>
          </a:xfrm>
          <a:prstGeom prst="straightConnector1">
            <a:avLst/>
          </a:prstGeom>
          <a:noFill/>
          <a:ln w="19050" cap="flat" cmpd="sng">
            <a:solidFill>
              <a:srgbClr val="0066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8" name="Google Shape;178;p28"/>
          <p:cNvSpPr/>
          <p:nvPr/>
        </p:nvSpPr>
        <p:spPr>
          <a:xfrm>
            <a:off x="2746552" y="4416114"/>
            <a:ext cx="1970998" cy="106734"/>
          </a:xfrm>
          <a:prstGeom prst="rect">
            <a:avLst/>
          </a:prstGeom>
          <a:solidFill>
            <a:srgbClr val="0066CC">
              <a:alpha val="564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28"/>
          <p:cNvSpPr/>
          <p:nvPr/>
        </p:nvSpPr>
        <p:spPr>
          <a:xfrm>
            <a:off x="3360058" y="4439757"/>
            <a:ext cx="83400" cy="831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66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28"/>
          <p:cNvSpPr/>
          <p:nvPr/>
        </p:nvSpPr>
        <p:spPr>
          <a:xfrm>
            <a:off x="4018579" y="4439757"/>
            <a:ext cx="83400" cy="831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66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28"/>
          <p:cNvSpPr/>
          <p:nvPr/>
        </p:nvSpPr>
        <p:spPr>
          <a:xfrm>
            <a:off x="4668792" y="4439757"/>
            <a:ext cx="83400" cy="831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66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28"/>
          <p:cNvSpPr/>
          <p:nvPr/>
        </p:nvSpPr>
        <p:spPr>
          <a:xfrm>
            <a:off x="2701537" y="4439757"/>
            <a:ext cx="83400" cy="831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66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28"/>
          <p:cNvSpPr txBox="1"/>
          <p:nvPr/>
        </p:nvSpPr>
        <p:spPr>
          <a:xfrm>
            <a:off x="2629089" y="3641376"/>
            <a:ext cx="22680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 b="1">
                <a:solidFill>
                  <a:srgbClr val="0066CC"/>
                </a:solidFill>
                <a:latin typeface="Titillium Web"/>
                <a:ea typeface="Titillium Web"/>
                <a:cs typeface="Titillium Web"/>
                <a:sym typeface="Titillium Web"/>
              </a:rPr>
              <a:t>CONOSCENZA DELL’AMBITO</a:t>
            </a:r>
            <a:endParaRPr sz="1100" b="1">
              <a:solidFill>
                <a:srgbClr val="434343"/>
              </a:solidFill>
              <a:highlight>
                <a:srgbClr val="FFAB40"/>
              </a:highlight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83" name="Google Shape;183;p28"/>
          <p:cNvSpPr txBox="1"/>
          <p:nvPr/>
        </p:nvSpPr>
        <p:spPr>
          <a:xfrm>
            <a:off x="2631675" y="3876625"/>
            <a:ext cx="2528700" cy="4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 dirty="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Alta. Ha sia conoscenze nell’ambito calcistico che nell’ambito di analisi di dati.</a:t>
            </a:r>
            <a:endParaRPr sz="1000" b="1" dirty="0">
              <a:solidFill>
                <a:srgbClr val="434343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cxnSp>
        <p:nvCxnSpPr>
          <p:cNvPr id="184" name="Google Shape;184;p28"/>
          <p:cNvCxnSpPr/>
          <p:nvPr/>
        </p:nvCxnSpPr>
        <p:spPr>
          <a:xfrm>
            <a:off x="5108900" y="-6325"/>
            <a:ext cx="0" cy="5713200"/>
          </a:xfrm>
          <a:prstGeom prst="straightConnector1">
            <a:avLst/>
          </a:prstGeom>
          <a:noFill/>
          <a:ln w="9525" cap="flat" cmpd="sng">
            <a:solidFill>
              <a:srgbClr val="0056CB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5" name="Google Shape;185;p28"/>
          <p:cNvSpPr txBox="1"/>
          <p:nvPr/>
        </p:nvSpPr>
        <p:spPr>
          <a:xfrm>
            <a:off x="5333300" y="242800"/>
            <a:ext cx="14118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900" b="1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USO DEL SERVIZIO</a:t>
            </a:r>
            <a:endParaRPr sz="900" b="1">
              <a:solidFill>
                <a:srgbClr val="434343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86" name="Google Shape;186;p28"/>
          <p:cNvSpPr txBox="1"/>
          <p:nvPr/>
        </p:nvSpPr>
        <p:spPr>
          <a:xfrm>
            <a:off x="2601875" y="242800"/>
            <a:ext cx="14118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900" b="1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PROFILO</a:t>
            </a:r>
            <a:endParaRPr sz="900" b="1">
              <a:solidFill>
                <a:srgbClr val="434343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cxnSp>
        <p:nvCxnSpPr>
          <p:cNvPr id="187" name="Google Shape;187;p28"/>
          <p:cNvCxnSpPr>
            <a:endCxn id="188" idx="6"/>
          </p:cNvCxnSpPr>
          <p:nvPr/>
        </p:nvCxnSpPr>
        <p:spPr>
          <a:xfrm>
            <a:off x="2781192" y="5317072"/>
            <a:ext cx="1971000" cy="0"/>
          </a:xfrm>
          <a:prstGeom prst="straightConnector1">
            <a:avLst/>
          </a:prstGeom>
          <a:noFill/>
          <a:ln w="19050" cap="flat" cmpd="sng">
            <a:solidFill>
              <a:srgbClr val="0066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9" name="Google Shape;189;p28"/>
          <p:cNvSpPr/>
          <p:nvPr/>
        </p:nvSpPr>
        <p:spPr>
          <a:xfrm>
            <a:off x="2746552" y="5259980"/>
            <a:ext cx="1970998" cy="98633"/>
          </a:xfrm>
          <a:prstGeom prst="rect">
            <a:avLst/>
          </a:prstGeom>
          <a:solidFill>
            <a:srgbClr val="0066CC">
              <a:alpha val="564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28"/>
          <p:cNvSpPr/>
          <p:nvPr/>
        </p:nvSpPr>
        <p:spPr>
          <a:xfrm>
            <a:off x="3360058" y="5275522"/>
            <a:ext cx="83400" cy="831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66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28"/>
          <p:cNvSpPr/>
          <p:nvPr/>
        </p:nvSpPr>
        <p:spPr>
          <a:xfrm>
            <a:off x="4018579" y="5275522"/>
            <a:ext cx="83400" cy="831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66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28"/>
          <p:cNvSpPr/>
          <p:nvPr/>
        </p:nvSpPr>
        <p:spPr>
          <a:xfrm>
            <a:off x="4668792" y="5275522"/>
            <a:ext cx="83400" cy="831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66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28"/>
          <p:cNvSpPr/>
          <p:nvPr/>
        </p:nvSpPr>
        <p:spPr>
          <a:xfrm>
            <a:off x="2701537" y="5275522"/>
            <a:ext cx="83400" cy="831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66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28"/>
          <p:cNvSpPr txBox="1"/>
          <p:nvPr/>
        </p:nvSpPr>
        <p:spPr>
          <a:xfrm>
            <a:off x="2629089" y="4658708"/>
            <a:ext cx="22680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 b="1" dirty="0">
                <a:solidFill>
                  <a:srgbClr val="0066CC"/>
                </a:solidFill>
                <a:latin typeface="Titillium Web"/>
                <a:ea typeface="Titillium Web"/>
                <a:cs typeface="Titillium Web"/>
                <a:sym typeface="Titillium Web"/>
              </a:rPr>
              <a:t>FREQUENZA D’USO</a:t>
            </a:r>
            <a:endParaRPr sz="1100" b="1" dirty="0">
              <a:solidFill>
                <a:srgbClr val="434343"/>
              </a:solidFill>
              <a:highlight>
                <a:srgbClr val="FFAB40"/>
              </a:highlight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94" name="Google Shape;194;p28"/>
          <p:cNvSpPr txBox="1"/>
          <p:nvPr/>
        </p:nvSpPr>
        <p:spPr>
          <a:xfrm>
            <a:off x="2631675" y="4912283"/>
            <a:ext cx="2528700" cy="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 dirty="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Giornaliero</a:t>
            </a:r>
            <a:endParaRPr sz="1000" b="1" dirty="0">
              <a:solidFill>
                <a:srgbClr val="434343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pic>
        <p:nvPicPr>
          <p:cNvPr id="3" name="Google Shape;253;p30">
            <a:extLst>
              <a:ext uri="{FF2B5EF4-FFF2-40B4-BE49-F238E27FC236}">
                <a16:creationId xmlns:a16="http://schemas.microsoft.com/office/drawing/2014/main" id="{4090F900-DFB6-0876-3248-DD4E1E883969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1802" b="1802"/>
          <a:stretch/>
        </p:blipFill>
        <p:spPr>
          <a:xfrm>
            <a:off x="308563" y="1445242"/>
            <a:ext cx="1670123" cy="157319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699879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8"/>
          <p:cNvSpPr/>
          <p:nvPr/>
        </p:nvSpPr>
        <p:spPr>
          <a:xfrm>
            <a:off x="-6450" y="-25775"/>
            <a:ext cx="2268000" cy="5749800"/>
          </a:xfrm>
          <a:prstGeom prst="rect">
            <a:avLst/>
          </a:prstGeom>
          <a:solidFill>
            <a:srgbClr val="F4F4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2" name="Google Shape;15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8575" y="3188701"/>
            <a:ext cx="282925" cy="202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8"/>
          <p:cNvSpPr txBox="1"/>
          <p:nvPr/>
        </p:nvSpPr>
        <p:spPr>
          <a:xfrm>
            <a:off x="233101" y="3389550"/>
            <a:ext cx="1907100" cy="1592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600" dirty="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Sarà una sfida navigare tra questi termini nuovi, ma con i dati me la cavo bene</a:t>
            </a:r>
            <a:endParaRPr sz="1600" dirty="0">
              <a:solidFill>
                <a:srgbClr val="434343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54" name="Google Shape;154;p28"/>
          <p:cNvSpPr txBox="1"/>
          <p:nvPr/>
        </p:nvSpPr>
        <p:spPr>
          <a:xfrm>
            <a:off x="213649" y="422322"/>
            <a:ext cx="1907100" cy="37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2800" b="1" dirty="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Aurora</a:t>
            </a:r>
            <a:endParaRPr sz="2800" b="1" dirty="0">
              <a:solidFill>
                <a:srgbClr val="434343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55" name="Google Shape;155;p28"/>
          <p:cNvSpPr txBox="1"/>
          <p:nvPr/>
        </p:nvSpPr>
        <p:spPr>
          <a:xfrm>
            <a:off x="213650" y="732800"/>
            <a:ext cx="2005800" cy="4809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 b="1" dirty="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Studentessa universitaria di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 b="1" dirty="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Matematica</a:t>
            </a:r>
            <a:endParaRPr sz="1100" b="1" dirty="0">
              <a:solidFill>
                <a:srgbClr val="434343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56" name="Google Shape;156;p28"/>
          <p:cNvSpPr txBox="1"/>
          <p:nvPr/>
        </p:nvSpPr>
        <p:spPr>
          <a:xfrm>
            <a:off x="2601875" y="551063"/>
            <a:ext cx="2454600" cy="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 b="1">
                <a:solidFill>
                  <a:srgbClr val="0066CC"/>
                </a:solidFill>
                <a:latin typeface="Titillium Web"/>
                <a:ea typeface="Titillium Web"/>
                <a:cs typeface="Titillium Web"/>
                <a:sym typeface="Titillium Web"/>
              </a:rPr>
              <a:t>BACKGROUND</a:t>
            </a:r>
            <a:endParaRPr sz="1100" b="1">
              <a:solidFill>
                <a:srgbClr val="0066CC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57" name="Google Shape;157;p28"/>
          <p:cNvSpPr txBox="1"/>
          <p:nvPr/>
        </p:nvSpPr>
        <p:spPr>
          <a:xfrm>
            <a:off x="2601875" y="808988"/>
            <a:ext cx="2349000" cy="17373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000" dirty="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Aurora ama i film francesi e le uscite con i suo ragazzo. Dopo la laurea vorrebbe trovare un lavoro da Data Analyst nel settore Finanziario.</a:t>
            </a:r>
            <a:r>
              <a:rPr lang="it-IT" sz="1000" dirty="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 Adesso sta frequentando il corso </a:t>
            </a:r>
            <a:r>
              <a:rPr lang="it" sz="1000" dirty="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di «Metodi di Analisi Statistica di Dati» e (amando la materia) ha deciso di seguire i consigli del professore e studiare casi reali dell’analisi statistica.</a:t>
            </a:r>
            <a:endParaRPr sz="1000" dirty="0">
              <a:solidFill>
                <a:srgbClr val="434343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58" name="Google Shape;158;p28"/>
          <p:cNvSpPr txBox="1"/>
          <p:nvPr/>
        </p:nvSpPr>
        <p:spPr>
          <a:xfrm>
            <a:off x="213650" y="8218"/>
            <a:ext cx="2047800" cy="26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 dirty="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PERSONA N. 3</a:t>
            </a:r>
            <a:endParaRPr sz="1000" dirty="0">
              <a:solidFill>
                <a:srgbClr val="434343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59" name="Google Shape;159;p28"/>
          <p:cNvSpPr/>
          <p:nvPr/>
        </p:nvSpPr>
        <p:spPr>
          <a:xfrm>
            <a:off x="393031" y="1483843"/>
            <a:ext cx="1473900" cy="14739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28"/>
          <p:cNvSpPr txBox="1"/>
          <p:nvPr/>
        </p:nvSpPr>
        <p:spPr>
          <a:xfrm>
            <a:off x="5377250" y="2465900"/>
            <a:ext cx="1581600" cy="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100" b="1">
                <a:solidFill>
                  <a:srgbClr val="0066CC"/>
                </a:solidFill>
                <a:latin typeface="Titillium Web"/>
                <a:ea typeface="Titillium Web"/>
                <a:cs typeface="Titillium Web"/>
                <a:sym typeface="Titillium Web"/>
              </a:rPr>
              <a:t>NECESSITÀ</a:t>
            </a:r>
            <a:endParaRPr sz="1100" b="1">
              <a:solidFill>
                <a:srgbClr val="0066CC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61" name="Google Shape;161;p28"/>
          <p:cNvSpPr txBox="1"/>
          <p:nvPr/>
        </p:nvSpPr>
        <p:spPr>
          <a:xfrm>
            <a:off x="5333300" y="551063"/>
            <a:ext cx="2454600" cy="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 b="1">
                <a:solidFill>
                  <a:srgbClr val="0066CC"/>
                </a:solidFill>
                <a:latin typeface="Titillium Web"/>
                <a:ea typeface="Titillium Web"/>
                <a:cs typeface="Titillium Web"/>
                <a:sym typeface="Titillium Web"/>
              </a:rPr>
              <a:t>COMPORTAMENTI</a:t>
            </a:r>
            <a:endParaRPr sz="1100" b="1">
              <a:solidFill>
                <a:srgbClr val="0066CC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62" name="Google Shape;162;p28"/>
          <p:cNvSpPr txBox="1"/>
          <p:nvPr/>
        </p:nvSpPr>
        <p:spPr>
          <a:xfrm>
            <a:off x="5333300" y="808987"/>
            <a:ext cx="3387900" cy="16288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100" dirty="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Aurora accede al servizio principalmente per vedere i dati e le analisi passate; studia i primi per osservarne il comportamento e l’andamento e le seconde per poter vedere se nel tempo si sono rivelate corrette.</a:t>
            </a: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100" dirty="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Aurora inoltre utilizza il servizio per analizzare grandi quantità di dati e verificare se sono corrette, essendo presenti su Internet molti esperti in materia che possono aiutarla in merito.</a:t>
            </a:r>
            <a:endParaRPr sz="1100" dirty="0">
              <a:solidFill>
                <a:srgbClr val="434343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63" name="Google Shape;163;p28"/>
          <p:cNvSpPr txBox="1"/>
          <p:nvPr/>
        </p:nvSpPr>
        <p:spPr>
          <a:xfrm>
            <a:off x="7093463" y="2465900"/>
            <a:ext cx="1581600" cy="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100" b="1">
                <a:solidFill>
                  <a:srgbClr val="0066CC"/>
                </a:solidFill>
                <a:latin typeface="Titillium Web"/>
                <a:ea typeface="Titillium Web"/>
                <a:cs typeface="Titillium Web"/>
                <a:sym typeface="Titillium Web"/>
              </a:rPr>
              <a:t>DIFFICOLTÀ</a:t>
            </a:r>
            <a:endParaRPr sz="1100" b="1">
              <a:solidFill>
                <a:srgbClr val="0066CC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64" name="Google Shape;164;p28"/>
          <p:cNvSpPr txBox="1"/>
          <p:nvPr/>
        </p:nvSpPr>
        <p:spPr>
          <a:xfrm>
            <a:off x="7093454" y="2777300"/>
            <a:ext cx="1671600" cy="22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00799" lvl="0" indent="-113899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434343"/>
              </a:buClr>
              <a:buSzPts val="1000"/>
              <a:buFont typeface="Titillium Web"/>
              <a:buChar char="●"/>
            </a:pPr>
            <a:r>
              <a:rPr lang="it" sz="1000" b="1" dirty="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Linguaggio calcistico troppo tecnico</a:t>
            </a:r>
          </a:p>
          <a:p>
            <a:pPr marL="100799" lvl="0" indent="-113899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434343"/>
              </a:buClr>
              <a:buSzPts val="1000"/>
              <a:buFont typeface="Titillium Web"/>
              <a:buChar char="●"/>
            </a:pPr>
            <a:r>
              <a:rPr lang="it" sz="1000" b="1" dirty="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Navigazione difficile per una neofita di calcio</a:t>
            </a:r>
          </a:p>
          <a:p>
            <a:pPr marL="100799" lvl="0" indent="-113899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434343"/>
              </a:buClr>
              <a:buSzPts val="1000"/>
              <a:buFont typeface="Titillium Web"/>
              <a:buChar char="●"/>
            </a:pPr>
            <a:r>
              <a:rPr lang="it-IT" sz="1000" b="1" dirty="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Grafici o termini statistici troppo complessi (non ancora studiati)</a:t>
            </a:r>
            <a:endParaRPr sz="1000" b="1" dirty="0">
              <a:solidFill>
                <a:srgbClr val="434343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65" name="Google Shape;165;p28"/>
          <p:cNvSpPr txBox="1"/>
          <p:nvPr/>
        </p:nvSpPr>
        <p:spPr>
          <a:xfrm>
            <a:off x="5377250" y="2777300"/>
            <a:ext cx="1671600" cy="24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00799" lvl="0" indent="-113899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434343"/>
              </a:buClr>
              <a:buSzPts val="1000"/>
              <a:buFont typeface="Titillium Web"/>
              <a:buChar char="●"/>
            </a:pPr>
            <a:r>
              <a:rPr lang="it-IT" sz="1000" b="1" dirty="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U</a:t>
            </a:r>
            <a:r>
              <a:rPr lang="it" sz="1000" b="1" dirty="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n servizio facile e veloce</a:t>
            </a:r>
          </a:p>
          <a:p>
            <a:pPr marL="100799" lvl="0" indent="-113899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434343"/>
              </a:buClr>
              <a:buSzPts val="1000"/>
              <a:buFont typeface="Titillium Web"/>
              <a:buChar char="●"/>
            </a:pPr>
            <a:r>
              <a:rPr lang="it" sz="1000" b="1" dirty="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Grafici visualmente semplici</a:t>
            </a:r>
          </a:p>
          <a:p>
            <a:pPr marL="100799" lvl="0" indent="-113899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434343"/>
              </a:buClr>
              <a:buSzPts val="1000"/>
              <a:buFont typeface="Titillium Web"/>
              <a:buChar char="●"/>
            </a:pPr>
            <a:r>
              <a:rPr lang="it" sz="1000" b="1" dirty="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Dati e analisi non solo attuali</a:t>
            </a:r>
          </a:p>
          <a:p>
            <a:pPr marL="100799" lvl="0" indent="-113899" algn="l" rtl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Clr>
                <a:srgbClr val="434343"/>
              </a:buClr>
              <a:buSzPts val="1000"/>
              <a:buFont typeface="Titillium Web"/>
              <a:buChar char="●"/>
            </a:pPr>
            <a:r>
              <a:rPr lang="it" sz="1000" b="1" dirty="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Spiegazioni su termini calcistici e approfondimenti</a:t>
            </a:r>
          </a:p>
        </p:txBody>
      </p:sp>
      <p:sp>
        <p:nvSpPr>
          <p:cNvPr id="166" name="Google Shape;166;p28"/>
          <p:cNvSpPr txBox="1"/>
          <p:nvPr/>
        </p:nvSpPr>
        <p:spPr>
          <a:xfrm>
            <a:off x="213649" y="1149410"/>
            <a:ext cx="2005800" cy="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 dirty="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21 anni</a:t>
            </a:r>
            <a:endParaRPr sz="1100" dirty="0">
              <a:solidFill>
                <a:srgbClr val="434343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pic>
        <p:nvPicPr>
          <p:cNvPr id="167" name="Google Shape;167;p2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8563" y="5083900"/>
            <a:ext cx="1448532" cy="30545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8" name="Google Shape;168;p28"/>
          <p:cNvCxnSpPr>
            <a:endCxn id="169" idx="6"/>
          </p:cNvCxnSpPr>
          <p:nvPr/>
        </p:nvCxnSpPr>
        <p:spPr>
          <a:xfrm>
            <a:off x="2781192" y="3588797"/>
            <a:ext cx="1971000" cy="0"/>
          </a:xfrm>
          <a:prstGeom prst="straightConnector1">
            <a:avLst/>
          </a:prstGeom>
          <a:noFill/>
          <a:ln w="19050" cap="flat" cmpd="sng">
            <a:solidFill>
              <a:srgbClr val="0066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0" name="Google Shape;170;p28"/>
          <p:cNvSpPr/>
          <p:nvPr/>
        </p:nvSpPr>
        <p:spPr>
          <a:xfrm>
            <a:off x="2746551" y="3543847"/>
            <a:ext cx="1288547" cy="86491"/>
          </a:xfrm>
          <a:prstGeom prst="rect">
            <a:avLst/>
          </a:prstGeom>
          <a:solidFill>
            <a:srgbClr val="0066CC">
              <a:alpha val="564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28"/>
          <p:cNvSpPr/>
          <p:nvPr/>
        </p:nvSpPr>
        <p:spPr>
          <a:xfrm>
            <a:off x="3360058" y="3547247"/>
            <a:ext cx="83400" cy="831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66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28"/>
          <p:cNvSpPr/>
          <p:nvPr/>
        </p:nvSpPr>
        <p:spPr>
          <a:xfrm>
            <a:off x="4018579" y="3547247"/>
            <a:ext cx="83400" cy="831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66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28"/>
          <p:cNvSpPr/>
          <p:nvPr/>
        </p:nvSpPr>
        <p:spPr>
          <a:xfrm>
            <a:off x="4668792" y="3547247"/>
            <a:ext cx="83400" cy="831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66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28"/>
          <p:cNvSpPr/>
          <p:nvPr/>
        </p:nvSpPr>
        <p:spPr>
          <a:xfrm>
            <a:off x="2701537" y="3547247"/>
            <a:ext cx="83400" cy="831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66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28"/>
          <p:cNvSpPr txBox="1"/>
          <p:nvPr/>
        </p:nvSpPr>
        <p:spPr>
          <a:xfrm>
            <a:off x="2629089" y="2581226"/>
            <a:ext cx="22680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 b="1">
                <a:solidFill>
                  <a:srgbClr val="0066CC"/>
                </a:solidFill>
                <a:latin typeface="Titillium Web"/>
                <a:ea typeface="Titillium Web"/>
                <a:cs typeface="Titillium Web"/>
                <a:sym typeface="Titillium Web"/>
              </a:rPr>
              <a:t>CULTURA DIGITALE</a:t>
            </a:r>
            <a:endParaRPr sz="1100" b="1">
              <a:solidFill>
                <a:srgbClr val="0066CC"/>
              </a:solidFill>
              <a:highlight>
                <a:srgbClr val="FFAB40"/>
              </a:highlight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75" name="Google Shape;175;p28"/>
          <p:cNvSpPr txBox="1"/>
          <p:nvPr/>
        </p:nvSpPr>
        <p:spPr>
          <a:xfrm>
            <a:off x="2631675" y="2816474"/>
            <a:ext cx="2418856" cy="655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it" sz="1000" dirty="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Media. Ha un’ottima conoscenza di internet, social e di diversi strumenti di analisi di dati. </a:t>
            </a:r>
            <a:endParaRPr sz="1000" dirty="0">
              <a:solidFill>
                <a:srgbClr val="434343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it-IT" sz="1000" b="1" dirty="0">
              <a:solidFill>
                <a:srgbClr val="434343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cxnSp>
        <p:nvCxnSpPr>
          <p:cNvPr id="176" name="Google Shape;176;p28"/>
          <p:cNvCxnSpPr>
            <a:endCxn id="177" idx="6"/>
          </p:cNvCxnSpPr>
          <p:nvPr/>
        </p:nvCxnSpPr>
        <p:spPr>
          <a:xfrm>
            <a:off x="2781192" y="4542267"/>
            <a:ext cx="1971000" cy="0"/>
          </a:xfrm>
          <a:prstGeom prst="straightConnector1">
            <a:avLst/>
          </a:prstGeom>
          <a:noFill/>
          <a:ln w="19050" cap="flat" cmpd="sng">
            <a:solidFill>
              <a:srgbClr val="0066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8" name="Google Shape;178;p28"/>
          <p:cNvSpPr/>
          <p:nvPr/>
        </p:nvSpPr>
        <p:spPr>
          <a:xfrm>
            <a:off x="2746552" y="4500708"/>
            <a:ext cx="927000" cy="83100"/>
          </a:xfrm>
          <a:prstGeom prst="rect">
            <a:avLst/>
          </a:prstGeom>
          <a:solidFill>
            <a:srgbClr val="0066CC">
              <a:alpha val="564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28"/>
          <p:cNvSpPr/>
          <p:nvPr/>
        </p:nvSpPr>
        <p:spPr>
          <a:xfrm>
            <a:off x="3360058" y="4500717"/>
            <a:ext cx="83400" cy="831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66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28"/>
          <p:cNvSpPr/>
          <p:nvPr/>
        </p:nvSpPr>
        <p:spPr>
          <a:xfrm>
            <a:off x="4018579" y="4500717"/>
            <a:ext cx="83400" cy="831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66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28"/>
          <p:cNvSpPr/>
          <p:nvPr/>
        </p:nvSpPr>
        <p:spPr>
          <a:xfrm>
            <a:off x="4668792" y="4500717"/>
            <a:ext cx="83400" cy="831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66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28"/>
          <p:cNvSpPr/>
          <p:nvPr/>
        </p:nvSpPr>
        <p:spPr>
          <a:xfrm>
            <a:off x="2701537" y="4500717"/>
            <a:ext cx="83400" cy="831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66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28"/>
          <p:cNvSpPr txBox="1"/>
          <p:nvPr/>
        </p:nvSpPr>
        <p:spPr>
          <a:xfrm>
            <a:off x="2629089" y="3641376"/>
            <a:ext cx="22680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 b="1">
                <a:solidFill>
                  <a:srgbClr val="0066CC"/>
                </a:solidFill>
                <a:latin typeface="Titillium Web"/>
                <a:ea typeface="Titillium Web"/>
                <a:cs typeface="Titillium Web"/>
                <a:sym typeface="Titillium Web"/>
              </a:rPr>
              <a:t>CONOSCENZA DELL’AMBITO</a:t>
            </a:r>
            <a:endParaRPr sz="1100" b="1">
              <a:solidFill>
                <a:srgbClr val="434343"/>
              </a:solidFill>
              <a:highlight>
                <a:srgbClr val="FFAB40"/>
              </a:highlight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83" name="Google Shape;183;p28"/>
          <p:cNvSpPr txBox="1"/>
          <p:nvPr/>
        </p:nvSpPr>
        <p:spPr>
          <a:xfrm>
            <a:off x="2636257" y="3821022"/>
            <a:ext cx="2418857" cy="5651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-IT" sz="1000" dirty="0"/>
              <a:t>Medio/Basse. Buona conoscenza delle tecniche di analisi statistica, ma poca familiarità con il calcio.</a:t>
            </a:r>
            <a:endParaRPr sz="800" b="1" dirty="0">
              <a:solidFill>
                <a:srgbClr val="434343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cxnSp>
        <p:nvCxnSpPr>
          <p:cNvPr id="184" name="Google Shape;184;p28"/>
          <p:cNvCxnSpPr/>
          <p:nvPr/>
        </p:nvCxnSpPr>
        <p:spPr>
          <a:xfrm>
            <a:off x="5108900" y="-6325"/>
            <a:ext cx="0" cy="5713200"/>
          </a:xfrm>
          <a:prstGeom prst="straightConnector1">
            <a:avLst/>
          </a:prstGeom>
          <a:noFill/>
          <a:ln w="9525" cap="flat" cmpd="sng">
            <a:solidFill>
              <a:srgbClr val="0056CB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5" name="Google Shape;185;p28"/>
          <p:cNvSpPr txBox="1"/>
          <p:nvPr/>
        </p:nvSpPr>
        <p:spPr>
          <a:xfrm>
            <a:off x="5333300" y="242800"/>
            <a:ext cx="14118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900" b="1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USO DEL SERVIZIO</a:t>
            </a:r>
            <a:endParaRPr sz="900" b="1">
              <a:solidFill>
                <a:srgbClr val="434343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86" name="Google Shape;186;p28"/>
          <p:cNvSpPr txBox="1"/>
          <p:nvPr/>
        </p:nvSpPr>
        <p:spPr>
          <a:xfrm>
            <a:off x="2601875" y="242800"/>
            <a:ext cx="14118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900" b="1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PROFILO</a:t>
            </a:r>
            <a:endParaRPr sz="900" b="1">
              <a:solidFill>
                <a:srgbClr val="434343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cxnSp>
        <p:nvCxnSpPr>
          <p:cNvPr id="187" name="Google Shape;187;p28"/>
          <p:cNvCxnSpPr>
            <a:endCxn id="188" idx="6"/>
          </p:cNvCxnSpPr>
          <p:nvPr/>
        </p:nvCxnSpPr>
        <p:spPr>
          <a:xfrm>
            <a:off x="2781192" y="5317072"/>
            <a:ext cx="1971000" cy="0"/>
          </a:xfrm>
          <a:prstGeom prst="straightConnector1">
            <a:avLst/>
          </a:prstGeom>
          <a:noFill/>
          <a:ln w="19050" cap="flat" cmpd="sng">
            <a:solidFill>
              <a:srgbClr val="0066CC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9" name="Google Shape;189;p28"/>
          <p:cNvSpPr/>
          <p:nvPr/>
        </p:nvSpPr>
        <p:spPr>
          <a:xfrm>
            <a:off x="2746553" y="5275513"/>
            <a:ext cx="345156" cy="83100"/>
          </a:xfrm>
          <a:prstGeom prst="rect">
            <a:avLst/>
          </a:prstGeom>
          <a:solidFill>
            <a:srgbClr val="0066CC">
              <a:alpha val="5647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28"/>
          <p:cNvSpPr/>
          <p:nvPr/>
        </p:nvSpPr>
        <p:spPr>
          <a:xfrm>
            <a:off x="3360058" y="5275522"/>
            <a:ext cx="83400" cy="831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66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28"/>
          <p:cNvSpPr/>
          <p:nvPr/>
        </p:nvSpPr>
        <p:spPr>
          <a:xfrm>
            <a:off x="4018579" y="5275522"/>
            <a:ext cx="83400" cy="831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66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28"/>
          <p:cNvSpPr/>
          <p:nvPr/>
        </p:nvSpPr>
        <p:spPr>
          <a:xfrm>
            <a:off x="4668792" y="5275522"/>
            <a:ext cx="83400" cy="831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66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28"/>
          <p:cNvSpPr/>
          <p:nvPr/>
        </p:nvSpPr>
        <p:spPr>
          <a:xfrm>
            <a:off x="2701537" y="5275522"/>
            <a:ext cx="83400" cy="83100"/>
          </a:xfrm>
          <a:prstGeom prst="ellipse">
            <a:avLst/>
          </a:prstGeom>
          <a:solidFill>
            <a:srgbClr val="FFFFFF"/>
          </a:solidFill>
          <a:ln w="19050" cap="flat" cmpd="sng">
            <a:solidFill>
              <a:srgbClr val="0066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28"/>
          <p:cNvSpPr txBox="1"/>
          <p:nvPr/>
        </p:nvSpPr>
        <p:spPr>
          <a:xfrm>
            <a:off x="2629089" y="4614301"/>
            <a:ext cx="22680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 b="1">
                <a:solidFill>
                  <a:srgbClr val="0066CC"/>
                </a:solidFill>
                <a:latin typeface="Titillium Web"/>
                <a:ea typeface="Titillium Web"/>
                <a:cs typeface="Titillium Web"/>
                <a:sym typeface="Titillium Web"/>
              </a:rPr>
              <a:t>FREQUENZA D’USO</a:t>
            </a:r>
            <a:endParaRPr sz="1100" b="1">
              <a:solidFill>
                <a:srgbClr val="434343"/>
              </a:solidFill>
              <a:highlight>
                <a:srgbClr val="FFAB40"/>
              </a:highlight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94" name="Google Shape;194;p28"/>
          <p:cNvSpPr txBox="1"/>
          <p:nvPr/>
        </p:nvSpPr>
        <p:spPr>
          <a:xfrm>
            <a:off x="2631675" y="4849550"/>
            <a:ext cx="2528700" cy="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 dirty="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Sporadica, principalmente per l’esame</a:t>
            </a:r>
            <a:endParaRPr sz="1000" dirty="0">
              <a:solidFill>
                <a:srgbClr val="434343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pic>
        <p:nvPicPr>
          <p:cNvPr id="3" name="Google Shape;261;p30">
            <a:extLst>
              <a:ext uri="{FF2B5EF4-FFF2-40B4-BE49-F238E27FC236}">
                <a16:creationId xmlns:a16="http://schemas.microsoft.com/office/drawing/2014/main" id="{70577459-A35C-DD59-B091-89F4164F6C5B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1802" b="1802"/>
          <a:stretch/>
        </p:blipFill>
        <p:spPr>
          <a:xfrm>
            <a:off x="308563" y="1384009"/>
            <a:ext cx="1752274" cy="16344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521948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03650" y="2267570"/>
            <a:ext cx="822825" cy="822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30"/>
          <p:cNvPicPr preferRelativeResize="0"/>
          <p:nvPr/>
        </p:nvPicPr>
        <p:blipFill rotWithShape="1">
          <a:blip r:embed="rId4">
            <a:alphaModFix/>
          </a:blip>
          <a:srcRect t="1802" b="1802"/>
          <a:stretch/>
        </p:blipFill>
        <p:spPr>
          <a:xfrm>
            <a:off x="6157765" y="3432666"/>
            <a:ext cx="1084950" cy="1045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30"/>
          <p:cNvPicPr preferRelativeResize="0"/>
          <p:nvPr/>
        </p:nvPicPr>
        <p:blipFill rotWithShape="1">
          <a:blip r:embed="rId5">
            <a:alphaModFix/>
          </a:blip>
          <a:srcRect t="1802" b="1802"/>
          <a:stretch/>
        </p:blipFill>
        <p:spPr>
          <a:xfrm>
            <a:off x="7618570" y="3431116"/>
            <a:ext cx="1084950" cy="1045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30"/>
          <p:cNvPicPr preferRelativeResize="0"/>
          <p:nvPr/>
        </p:nvPicPr>
        <p:blipFill rotWithShape="1">
          <a:blip r:embed="rId6">
            <a:alphaModFix/>
          </a:blip>
          <a:srcRect t="1802" b="1802"/>
          <a:stretch/>
        </p:blipFill>
        <p:spPr>
          <a:xfrm>
            <a:off x="7530312" y="1185566"/>
            <a:ext cx="1084950" cy="1045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30"/>
          <p:cNvPicPr preferRelativeResize="0"/>
          <p:nvPr/>
        </p:nvPicPr>
        <p:blipFill rotWithShape="1">
          <a:blip r:embed="rId7">
            <a:alphaModFix/>
          </a:blip>
          <a:srcRect t="1802" b="1802"/>
          <a:stretch/>
        </p:blipFill>
        <p:spPr>
          <a:xfrm>
            <a:off x="6157760" y="1185566"/>
            <a:ext cx="1084950" cy="1045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5" name="Google Shape;255;p30"/>
          <p:cNvPicPr preferRelativeResize="0"/>
          <p:nvPr/>
        </p:nvPicPr>
        <p:blipFill rotWithShape="1">
          <a:blip r:embed="rId8">
            <a:alphaModFix/>
          </a:blip>
          <a:srcRect t="1802" b="1802"/>
          <a:stretch/>
        </p:blipFill>
        <p:spPr>
          <a:xfrm>
            <a:off x="4772591" y="1185566"/>
            <a:ext cx="1084950" cy="1045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30"/>
          <p:cNvPicPr preferRelativeResize="0"/>
          <p:nvPr/>
        </p:nvPicPr>
        <p:blipFill rotWithShape="1">
          <a:blip r:embed="rId9">
            <a:alphaModFix/>
          </a:blip>
          <a:srcRect t="1802" b="1802"/>
          <a:stretch/>
        </p:blipFill>
        <p:spPr>
          <a:xfrm>
            <a:off x="3336959" y="1185566"/>
            <a:ext cx="1084950" cy="1045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30"/>
          <p:cNvPicPr preferRelativeResize="0"/>
          <p:nvPr/>
        </p:nvPicPr>
        <p:blipFill rotWithShape="1">
          <a:blip r:embed="rId10">
            <a:alphaModFix/>
          </a:blip>
          <a:srcRect t="1802" b="1802"/>
          <a:stretch/>
        </p:blipFill>
        <p:spPr>
          <a:xfrm>
            <a:off x="1876096" y="1185566"/>
            <a:ext cx="1084950" cy="1045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30"/>
          <p:cNvPicPr preferRelativeResize="0"/>
          <p:nvPr/>
        </p:nvPicPr>
        <p:blipFill rotWithShape="1">
          <a:blip r:embed="rId11">
            <a:alphaModFix/>
          </a:blip>
          <a:srcRect t="1802" b="1802"/>
          <a:stretch/>
        </p:blipFill>
        <p:spPr>
          <a:xfrm>
            <a:off x="440464" y="1185566"/>
            <a:ext cx="1084950" cy="1045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30"/>
          <p:cNvPicPr preferRelativeResize="0"/>
          <p:nvPr/>
        </p:nvPicPr>
        <p:blipFill rotWithShape="1">
          <a:blip r:embed="rId12">
            <a:alphaModFix/>
          </a:blip>
          <a:srcRect t="1802" b="1802"/>
          <a:stretch/>
        </p:blipFill>
        <p:spPr>
          <a:xfrm>
            <a:off x="4772586" y="3469264"/>
            <a:ext cx="1084950" cy="1045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30"/>
          <p:cNvPicPr preferRelativeResize="0"/>
          <p:nvPr/>
        </p:nvPicPr>
        <p:blipFill rotWithShape="1">
          <a:blip r:embed="rId13">
            <a:alphaModFix/>
          </a:blip>
          <a:srcRect t="1802" b="1802"/>
          <a:stretch/>
        </p:blipFill>
        <p:spPr>
          <a:xfrm>
            <a:off x="3340767" y="3469264"/>
            <a:ext cx="1084950" cy="1045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30"/>
          <p:cNvPicPr preferRelativeResize="0"/>
          <p:nvPr/>
        </p:nvPicPr>
        <p:blipFill rotWithShape="1">
          <a:blip r:embed="rId14">
            <a:alphaModFix/>
          </a:blip>
          <a:srcRect t="1802" b="1802"/>
          <a:stretch/>
        </p:blipFill>
        <p:spPr>
          <a:xfrm>
            <a:off x="6157755" y="2270764"/>
            <a:ext cx="1084950" cy="1045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30"/>
          <p:cNvPicPr preferRelativeResize="0"/>
          <p:nvPr/>
        </p:nvPicPr>
        <p:blipFill rotWithShape="1">
          <a:blip r:embed="rId15">
            <a:alphaModFix/>
          </a:blip>
          <a:srcRect t="1802" b="1802"/>
          <a:stretch/>
        </p:blipFill>
        <p:spPr>
          <a:xfrm>
            <a:off x="4772581" y="2270764"/>
            <a:ext cx="1084950" cy="1045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30"/>
          <p:cNvPicPr preferRelativeResize="0"/>
          <p:nvPr/>
        </p:nvPicPr>
        <p:blipFill rotWithShape="1">
          <a:blip r:embed="rId16">
            <a:alphaModFix/>
          </a:blip>
          <a:srcRect t="1802" b="1802"/>
          <a:stretch/>
        </p:blipFill>
        <p:spPr>
          <a:xfrm>
            <a:off x="3312869" y="2270764"/>
            <a:ext cx="1084950" cy="1045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30"/>
          <p:cNvPicPr preferRelativeResize="0"/>
          <p:nvPr/>
        </p:nvPicPr>
        <p:blipFill rotWithShape="1">
          <a:blip r:embed="rId17">
            <a:alphaModFix/>
          </a:blip>
          <a:srcRect t="1802" b="1802"/>
          <a:stretch/>
        </p:blipFill>
        <p:spPr>
          <a:xfrm>
            <a:off x="1940251" y="2270764"/>
            <a:ext cx="1084950" cy="1045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30"/>
          <p:cNvPicPr preferRelativeResize="0"/>
          <p:nvPr/>
        </p:nvPicPr>
        <p:blipFill rotWithShape="1">
          <a:blip r:embed="rId18">
            <a:alphaModFix/>
          </a:blip>
          <a:srcRect t="1802" b="1802"/>
          <a:stretch/>
        </p:blipFill>
        <p:spPr>
          <a:xfrm>
            <a:off x="440464" y="2270764"/>
            <a:ext cx="1084950" cy="1045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30"/>
          <p:cNvPicPr preferRelativeResize="0"/>
          <p:nvPr/>
        </p:nvPicPr>
        <p:blipFill rotWithShape="1">
          <a:blip r:embed="rId19">
            <a:alphaModFix/>
          </a:blip>
          <a:srcRect t="1802" b="1802"/>
          <a:stretch/>
        </p:blipFill>
        <p:spPr>
          <a:xfrm>
            <a:off x="1890732" y="3483635"/>
            <a:ext cx="1084950" cy="1045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30"/>
          <p:cNvPicPr preferRelativeResize="0"/>
          <p:nvPr/>
        </p:nvPicPr>
        <p:blipFill rotWithShape="1">
          <a:blip r:embed="rId20">
            <a:alphaModFix/>
          </a:blip>
          <a:srcRect t="1802" b="1802"/>
          <a:stretch/>
        </p:blipFill>
        <p:spPr>
          <a:xfrm>
            <a:off x="440464" y="3483635"/>
            <a:ext cx="1084950" cy="1045801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30"/>
          <p:cNvSpPr txBox="1"/>
          <p:nvPr/>
        </p:nvSpPr>
        <p:spPr>
          <a:xfrm>
            <a:off x="360825" y="354450"/>
            <a:ext cx="3881100" cy="31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200">
                <a:solidFill>
                  <a:srgbClr val="0066CC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Persone e ruoli</a:t>
            </a:r>
            <a:endParaRPr sz="1200">
              <a:solidFill>
                <a:srgbClr val="0066CC"/>
              </a:solidFill>
              <a:latin typeface="Titillium Web SemiBold"/>
              <a:ea typeface="Titillium Web SemiBold"/>
              <a:cs typeface="Titillium Web SemiBold"/>
              <a:sym typeface="Titillium Web SemiBold"/>
            </a:endParaRPr>
          </a:p>
        </p:txBody>
      </p:sp>
      <p:pic>
        <p:nvPicPr>
          <p:cNvPr id="269" name="Google Shape;269;p30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-12" y="5409536"/>
            <a:ext cx="1448532" cy="305456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p30"/>
          <p:cNvSpPr txBox="1"/>
          <p:nvPr/>
        </p:nvSpPr>
        <p:spPr>
          <a:xfrm>
            <a:off x="4572000" y="337111"/>
            <a:ext cx="4164900" cy="34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10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Utilizza queste icone come ti sono più utili </a:t>
            </a:r>
            <a:br>
              <a:rPr lang="it" sz="110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</a:br>
            <a:r>
              <a:rPr lang="it" sz="1100">
                <a:solidFill>
                  <a:srgbClr val="434343"/>
                </a:solidFill>
                <a:latin typeface="Titillium Web"/>
                <a:ea typeface="Titillium Web"/>
                <a:cs typeface="Titillium Web"/>
                <a:sym typeface="Titillium Web"/>
              </a:rPr>
              <a:t>e integra laddove necessario</a:t>
            </a:r>
            <a:endParaRPr sz="1100">
              <a:solidFill>
                <a:srgbClr val="434343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sz="1100">
              <a:solidFill>
                <a:srgbClr val="434343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6CC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1"/>
          <p:cNvSpPr txBox="1"/>
          <p:nvPr/>
        </p:nvSpPr>
        <p:spPr>
          <a:xfrm>
            <a:off x="6372525" y="2350833"/>
            <a:ext cx="2489100" cy="91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it" sz="7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Quest'opera, realizzata per il progetto </a:t>
            </a:r>
            <a:r>
              <a:rPr lang="it" sz="700" u="sng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Designers Italia</a:t>
            </a:r>
            <a:r>
              <a:rPr lang="it" sz="7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, è distribuita con Licenza </a:t>
            </a:r>
            <a:r>
              <a:rPr lang="it" sz="700" u="sng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Creative Commons Attribuzione - Condividi allo stesso modo 4.0 Internazionale</a:t>
            </a:r>
            <a:r>
              <a:rPr lang="it" sz="700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. Copyright (c) 2021 Presidenza del Consiglio dei Ministri - Dipartimento per la trasformazione digitale. </a:t>
            </a:r>
            <a:r>
              <a:rPr lang="it" sz="700" b="1">
                <a:solidFill>
                  <a:schemeClr val="lt1"/>
                </a:solidFill>
                <a:latin typeface="Titillium Web"/>
                <a:ea typeface="Titillium Web"/>
                <a:cs typeface="Titillium Web"/>
                <a:sym typeface="Titillium Web"/>
              </a:rPr>
              <a:t>Per rispettare i termini della licenza lascia questo testo/questa slide nella tua versione.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id="276" name="Google Shape;276;p31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2631236"/>
            <a:ext cx="1931375" cy="40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B54C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1063</Words>
  <Application>Microsoft Office PowerPoint</Application>
  <PresentationFormat>Presentazione su schermo (16:10)</PresentationFormat>
  <Paragraphs>118</Paragraphs>
  <Slides>8</Slides>
  <Notes>8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8</vt:i4>
      </vt:variant>
    </vt:vector>
  </HeadingPairs>
  <TitlesOfParts>
    <vt:vector size="14" baseType="lpstr">
      <vt:lpstr>Titillium Web SemiBold</vt:lpstr>
      <vt:lpstr>Roboto Mono Light</vt:lpstr>
      <vt:lpstr>Arial</vt:lpstr>
      <vt:lpstr>Titillium Web</vt:lpstr>
      <vt:lpstr>Simple Light</vt:lpstr>
      <vt:lpstr>Simple Light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Giulia Bono</cp:lastModifiedBy>
  <cp:revision>3</cp:revision>
  <dcterms:modified xsi:type="dcterms:W3CDTF">2024-07-08T15:10:41Z</dcterms:modified>
</cp:coreProperties>
</file>